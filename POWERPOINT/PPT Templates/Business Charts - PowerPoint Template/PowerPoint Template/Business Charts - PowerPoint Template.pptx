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vnd.ms-excel.sheet.macroEnabled.12" Extension="xlsm"/>
  <Default ContentType="application/xml" Extension="xml"/>
  <Default ContentType="application/vnd.openxmlformats-package.relationships+xml" Extension="rels"/>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21.xml"/>
  <Override ContentType="application/vnd.ms-office.chartcolorstyle+xml" PartName="/ppt/charts/colors6.xml"/>
  <Override ContentType="application/vnd.ms-office.chartcolorstyle+xml" PartName="/ppt/charts/colors4.xml"/>
  <Override ContentType="application/vnd.ms-office.chartcolorstyle+xml" PartName="/ppt/charts/colors1.xml"/>
  <Override ContentType="application/vnd.ms-office.chartcolorstyle+xml" PartName="/ppt/charts/colors17.xml"/>
  <Override ContentType="application/vnd.ms-office.chartcolorstyle+xml" PartName="/ppt/charts/colors8.xml"/>
  <Override ContentType="application/vnd.ms-office.chartcolorstyle+xml" PartName="/ppt/charts/colors11.xml"/>
  <Override ContentType="application/vnd.ms-office.chartcolorstyle+xml" PartName="/ppt/charts/colors15.xml"/>
  <Override ContentType="application/vnd.ms-office.chartcolorstyle+xml" PartName="/ppt/charts/colors13.xml"/>
  <Override ContentType="application/vnd.ms-office.chartcolorstyle+xml" PartName="/ppt/charts/colors14.xml"/>
  <Override ContentType="application/vnd.ms-office.chartcolorstyle+xml" PartName="/ppt/charts/colors5.xml"/>
  <Override ContentType="application/vnd.ms-office.chartcolorstyle+xml" PartName="/ppt/charts/colors19.xml"/>
  <Override ContentType="application/vnd.ms-office.chartcolorstyle+xml" PartName="/ppt/charts/colors22.xml"/>
  <Override ContentType="application/vnd.ms-office.chartcolorstyle+xml" PartName="/ppt/charts/colors20.xml"/>
  <Override ContentType="application/vnd.ms-office.chartcolorstyle+xml" PartName="/ppt/charts/colors2.xml"/>
  <Override ContentType="application/vnd.ms-office.chartcolorstyle+xml" PartName="/ppt/charts/colors3.xml"/>
  <Override ContentType="application/vnd.ms-office.chartcolorstyle+xml" PartName="/ppt/charts/colors16.xml"/>
  <Override ContentType="application/vnd.ms-office.chartcolorstyle+xml" PartName="/ppt/charts/colors18.xml"/>
  <Override ContentType="application/vnd.ms-office.chartcolorstyle+xml" PartName="/ppt/charts/colors7.xml"/>
  <Override ContentType="application/vnd.ms-office.chartcolorstyle+xml" PartName="/ppt/charts/colors10.xml"/>
  <Override ContentType="application/vnd.ms-office.chartcolorstyle+xml" PartName="/ppt/charts/colors9.xml"/>
  <Override ContentType="application/vnd.ms-office.chartcolorstyle+xml" PartName="/ppt/charts/colors12.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9.xml"/>
  <Override ContentType="application/vnd.openxmlformats-officedocument.drawingml.chart+xml" PartName="/ppt/charts/chart20.xml"/>
  <Override ContentType="application/vnd.openxmlformats-officedocument.drawingml.chart+xml" PartName="/ppt/charts/chart9.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4.xml"/>
  <Override ContentType="application/vnd.openxmlformats-officedocument.drawingml.chart+xml" PartName="/ppt/charts/chart6.xml"/>
  <Override ContentType="application/vnd.openxmlformats-officedocument.drawingml.chart+xml" PartName="/ppt/charts/chart16.xml"/>
  <Override ContentType="application/vnd.openxmlformats-officedocument.drawingml.chart+xml" PartName="/ppt/charts/chart1.xml"/>
  <Override ContentType="application/vnd.openxmlformats-officedocument.drawingml.chart+xml" PartName="/ppt/charts/chart10.xml"/>
  <Override ContentType="application/vnd.openxmlformats-officedocument.drawingml.chart+xml" PartName="/ppt/charts/chart23.xml"/>
  <Override ContentType="application/vnd.openxmlformats-officedocument.drawingml.chart+xml" PartName="/ppt/charts/chart12.xml"/>
  <Override ContentType="application/vnd.openxmlformats-officedocument.drawingml.chart+xml" PartName="/ppt/charts/chart14.xml"/>
  <Override ContentType="application/vnd.openxmlformats-officedocument.drawingml.chart+xml" PartName="/ppt/charts/chart3.xml"/>
  <Override ContentType="application/vnd.openxmlformats-officedocument.drawingml.chart+xml" PartName="/ppt/charts/chart8.xml"/>
  <Override ContentType="application/vnd.openxmlformats-officedocument.drawingml.chart+xml" PartName="/ppt/charts/chart18.xml"/>
  <Override ContentType="application/vnd.openxmlformats-officedocument.drawingml.chart+xml" PartName="/ppt/charts/chart21.xml"/>
  <Override ContentType="application/vnd.openxmlformats-officedocument.drawingml.chart+xml" PartName="/ppt/charts/chart5.xml"/>
  <Override ContentType="application/vnd.openxmlformats-officedocument.drawingml.chart+xml" PartName="/ppt/charts/chart11.xml"/>
  <Override ContentType="application/vnd.openxmlformats-officedocument.drawingml.chart+xml" PartName="/ppt/charts/chart22.xml"/>
  <Override ContentType="application/vnd.openxmlformats-officedocument.drawingml.chart+xml" PartName="/ppt/charts/chart17.xml"/>
  <Override ContentType="application/vnd.openxmlformats-officedocument.drawingml.chart+xml" PartName="/ppt/charts/chart15.xml"/>
  <Override ContentType="application/vnd.openxmlformats-officedocument.drawingml.chart+xml" PartName="/ppt/charts/chart1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19.xml"/>
  <Override ContentType="application/vnd.ms-office.chartstyle+xml" PartName="/ppt/charts/style5.xml"/>
  <Override ContentType="application/vnd.ms-office.chartstyle+xml" PartName="/ppt/charts/style22.xml"/>
  <Override ContentType="application/vnd.ms-office.chartstyle+xml" PartName="/ppt/charts/style8.xml"/>
  <Override ContentType="application/vnd.ms-office.chartstyle+xml" PartName="/ppt/charts/style20.xml"/>
  <Override ContentType="application/vnd.ms-office.chartstyle+xml" PartName="/ppt/charts/style1.xml"/>
  <Override ContentType="application/vnd.ms-office.chartstyle+xml" PartName="/ppt/charts/style12.xml"/>
  <Override ContentType="application/vnd.ms-office.chartstyle+xml" PartName="/ppt/charts/style18.xml"/>
  <Override ContentType="application/vnd.ms-office.chartstyle+xml" PartName="/ppt/charts/style16.xml"/>
  <Override ContentType="application/vnd.ms-office.chartstyle+xml" PartName="/ppt/charts/style14.xml"/>
  <Override ContentType="application/vnd.ms-office.chartstyle+xml" PartName="/ppt/charts/style9.xml"/>
  <Override ContentType="application/vnd.ms-office.chartstyle+xml" PartName="/ppt/charts/style21.xml"/>
  <Override ContentType="application/vnd.ms-office.chartstyle+xml" PartName="/ppt/charts/style4.xml"/>
  <Override ContentType="application/vnd.ms-office.chartstyle+xml" PartName="/ppt/charts/style10.xml"/>
  <Override ContentType="application/vnd.ms-office.chartstyle+xml" PartName="/ppt/charts/style7.xml"/>
  <Override ContentType="application/vnd.ms-office.chartstyle+xml" PartName="/ppt/charts/style17.xml"/>
  <Override ContentType="application/vnd.ms-office.chartstyle+xml" PartName="/ppt/charts/style6.xml"/>
  <Override ContentType="application/vnd.ms-office.chartstyle+xml" PartName="/ppt/charts/style11.xml"/>
  <Override ContentType="application/vnd.ms-office.chartstyle+xml" PartName="/ppt/charts/style2.xml"/>
  <Override ContentType="application/vnd.ms-office.chartstyle+xml" PartName="/ppt/charts/style13.xml"/>
  <Override ContentType="application/vnd.ms-office.chartstyle+xml" PartName="/ppt/charts/style15.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13716000" cx="24387175"/>
  <p:notesSz cx="6858000" cy="9144000"/>
  <p:embeddedFontLst>
    <p:embeddedFont>
      <p:font typeface="Helvetica Neue Light"/>
      <p:regular r:id="rId25"/>
      <p:bold r:id="rId26"/>
      <p:italic r:id="rId27"/>
      <p:boldItalic r:id="rId28"/>
    </p:embeddedFont>
    <p:embeddedFont>
      <p:font typeface="Century Gothic"/>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3" roundtripDataSignature="AMtx7mhqPa49YhM8J7XPxT2rSrzPrbrm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HelveticaNeueLight-bold.fntdata"/><Relationship Id="rId25" Type="http://schemas.openxmlformats.org/officeDocument/2006/relationships/font" Target="fonts/HelveticaNeueLight-regular.fntdata"/><Relationship Id="rId28" Type="http://schemas.openxmlformats.org/officeDocument/2006/relationships/font" Target="fonts/HelveticaNeueLight-boldItalic.fntdata"/><Relationship Id="rId27" Type="http://schemas.openxmlformats.org/officeDocument/2006/relationships/font" Target="fonts/HelveticaNeueLight-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CenturyGothic-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enturyGothic-italic.fntdata"/><Relationship Id="rId30" Type="http://schemas.openxmlformats.org/officeDocument/2006/relationships/font" Target="fonts/CenturyGothic-bold.fntdata"/><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font" Target="fonts/CenturyGothic-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Macro-Enabled_Worksheet21.xlsm"/></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package" Target="../embeddings/Microsoft_Excel_Sheet2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pattFill prst="wdUpDiag">
              <a:fgClr>
                <a:schemeClr val="accent1">
                  <a:lumMod val="60000"/>
                  <a:lumOff val="40000"/>
                </a:schemeClr>
              </a:fgClr>
              <a:bgClr>
                <a:schemeClr val="bg1"/>
              </a:bgClr>
            </a:pattFill>
            <a:ln>
              <a:noFill/>
            </a:ln>
            <a:effectLst/>
          </c:spPr>
          <c:invertIfNegative val="0"/>
          <c:cat>
            <c:strRef>
              <c:f>Sheet1!$A$2:$A$5</c:f>
              <c:strCache>
                <c:ptCount val="4"/>
                <c:pt idx="0">
                  <c:v>Customer</c:v>
                </c:pt>
                <c:pt idx="1">
                  <c:v>Product</c:v>
                </c:pt>
                <c:pt idx="2">
                  <c:v>Marketing</c:v>
                </c:pt>
                <c:pt idx="3">
                  <c:v>Sales</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204-7A4C-AD4C-A07F1FA9CDAB}"/>
            </c:ext>
          </c:extLst>
        </c:ser>
        <c:ser>
          <c:idx val="1"/>
          <c:order val="1"/>
          <c:tx>
            <c:strRef>
              <c:f>Sheet1!$C$1</c:f>
              <c:strCache>
                <c:ptCount val="1"/>
                <c:pt idx="0">
                  <c:v>Series 2</c:v>
                </c:pt>
              </c:strCache>
            </c:strRef>
          </c:tx>
          <c:spPr>
            <a:solidFill>
              <a:schemeClr val="accent1"/>
            </a:solidFill>
            <a:ln>
              <a:noFill/>
            </a:ln>
            <a:effectLst/>
          </c:spPr>
          <c:invertIfNegative val="0"/>
          <c:cat>
            <c:strRef>
              <c:f>Sheet1!$A$2:$A$5</c:f>
              <c:strCache>
                <c:ptCount val="4"/>
                <c:pt idx="0">
                  <c:v>Customer</c:v>
                </c:pt>
                <c:pt idx="1">
                  <c:v>Product</c:v>
                </c:pt>
                <c:pt idx="2">
                  <c:v>Marketing</c:v>
                </c:pt>
                <c:pt idx="3">
                  <c:v>Sales</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204-7A4C-AD4C-A07F1FA9CDAB}"/>
            </c:ext>
          </c:extLst>
        </c:ser>
        <c:dLbls>
          <c:showLegendKey val="0"/>
          <c:showVal val="0"/>
          <c:showCatName val="0"/>
          <c:showSerName val="0"/>
          <c:showPercent val="0"/>
          <c:showBubbleSize val="0"/>
        </c:dLbls>
        <c:gapWidth val="200"/>
        <c:overlap val="-10"/>
        <c:axId val="1590885216"/>
        <c:axId val="1591157168"/>
      </c:barChart>
      <c:catAx>
        <c:axId val="1590885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Century Gothic" panose="020B0502020202020204" pitchFamily="34" charset="0"/>
                <a:ea typeface="+mn-ea"/>
                <a:cs typeface="+mn-cs"/>
              </a:defRPr>
            </a:pPr>
            <a:endParaRPr lang="en-US"/>
          </a:p>
        </c:txPr>
        <c:crossAx val="1591157168"/>
        <c:crosses val="autoZero"/>
        <c:auto val="1"/>
        <c:lblAlgn val="ctr"/>
        <c:lblOffset val="100"/>
        <c:noMultiLvlLbl val="0"/>
      </c:catAx>
      <c:valAx>
        <c:axId val="1591157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Century Gothic" panose="020B0502020202020204" pitchFamily="34" charset="0"/>
                <a:ea typeface="+mn-ea"/>
                <a:cs typeface="+mn-cs"/>
              </a:defRPr>
            </a:pPr>
            <a:endParaRPr lang="en-US"/>
          </a:p>
        </c:txPr>
        <c:crossAx val="15908852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b="0" i="0">
          <a:solidFill>
            <a:schemeClr val="tx1"/>
          </a:solidFill>
          <a:latin typeface="Century Gothic" panose="020B0502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63500" cap="rnd">
              <a:solidFill>
                <a:schemeClr val="accent1"/>
              </a:solidFill>
              <a:round/>
            </a:ln>
            <a:effectLst/>
          </c:spPr>
          <c:marker>
            <c:symbol val="circle"/>
            <c:size val="20"/>
            <c:spPr>
              <a:solidFill>
                <a:schemeClr val="accent1"/>
              </a:solidFill>
              <a:ln w="9525">
                <a:solidFill>
                  <a:schemeClr val="accent1"/>
                </a:solidFill>
              </a:ln>
              <a:effectLst/>
            </c:spPr>
          </c:marker>
          <c:cat>
            <c:strRef>
              <c:f>Sheet1!$A$2:$A$9</c:f>
              <c:strCache>
                <c:ptCount val="8"/>
                <c:pt idx="0">
                  <c:v>Procurement</c:v>
                </c:pt>
                <c:pt idx="1">
                  <c:v>Services</c:v>
                </c:pt>
                <c:pt idx="2">
                  <c:v>Operations</c:v>
                </c:pt>
                <c:pt idx="3">
                  <c:v>Inbound</c:v>
                </c:pt>
                <c:pt idx="4">
                  <c:v>Outbound</c:v>
                </c:pt>
                <c:pt idx="5">
                  <c:v>Marketing</c:v>
                </c:pt>
                <c:pt idx="6">
                  <c:v>Sales </c:v>
                </c:pt>
                <c:pt idx="7">
                  <c:v>Procurement</c:v>
                </c:pt>
              </c:strCache>
            </c:strRef>
          </c:cat>
          <c:val>
            <c:numRef>
              <c:f>Sheet1!$B$2:$B$9</c:f>
              <c:numCache>
                <c:formatCode>General</c:formatCode>
                <c:ptCount val="8"/>
                <c:pt idx="0">
                  <c:v>4.3</c:v>
                </c:pt>
                <c:pt idx="1">
                  <c:v>5.4</c:v>
                </c:pt>
                <c:pt idx="2">
                  <c:v>3.9</c:v>
                </c:pt>
                <c:pt idx="3">
                  <c:v>4.5</c:v>
                </c:pt>
                <c:pt idx="4">
                  <c:v>6.3</c:v>
                </c:pt>
                <c:pt idx="5">
                  <c:v>4.7</c:v>
                </c:pt>
                <c:pt idx="6">
                  <c:v>5.3</c:v>
                </c:pt>
                <c:pt idx="7">
                  <c:v>3.8</c:v>
                </c:pt>
              </c:numCache>
            </c:numRef>
          </c:val>
          <c:smooth val="0"/>
          <c:extLst>
            <c:ext xmlns:c16="http://schemas.microsoft.com/office/drawing/2014/chart" uri="{C3380CC4-5D6E-409C-BE32-E72D297353CC}">
              <c16:uniqueId val="{00000000-5C2C-7D48-9974-D0A55541B46D}"/>
            </c:ext>
          </c:extLst>
        </c:ser>
        <c:dLbls>
          <c:showLegendKey val="0"/>
          <c:showVal val="0"/>
          <c:showCatName val="0"/>
          <c:showSerName val="0"/>
          <c:showPercent val="0"/>
          <c:showBubbleSize val="0"/>
        </c:dLbls>
        <c:marker val="1"/>
        <c:smooth val="0"/>
        <c:axId val="1420097056"/>
        <c:axId val="1420487072"/>
      </c:lineChart>
      <c:catAx>
        <c:axId val="1420097056"/>
        <c:scaling>
          <c:orientation val="minMax"/>
        </c:scaling>
        <c:delete val="1"/>
        <c:axPos val="b"/>
        <c:numFmt formatCode="General" sourceLinked="1"/>
        <c:majorTickMark val="none"/>
        <c:minorTickMark val="none"/>
        <c:tickLblPos val="nextTo"/>
        <c:crossAx val="1420487072"/>
        <c:crosses val="autoZero"/>
        <c:auto val="1"/>
        <c:lblAlgn val="ctr"/>
        <c:lblOffset val="100"/>
        <c:noMultiLvlLbl val="0"/>
      </c:catAx>
      <c:valAx>
        <c:axId val="1420487072"/>
        <c:scaling>
          <c:orientation val="minMax"/>
        </c:scaling>
        <c:delete val="1"/>
        <c:axPos val="l"/>
        <c:numFmt formatCode="General" sourceLinked="1"/>
        <c:majorTickMark val="none"/>
        <c:minorTickMark val="none"/>
        <c:tickLblPos val="nextTo"/>
        <c:crossAx val="14200970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a:latin typeface="Century Gothic" panose="020B0502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2"/>
            <c:invertIfNegative val="0"/>
            <c:bubble3D val="0"/>
            <c:spPr>
              <a:pattFill prst="wdUpDiag">
                <a:fgClr>
                  <a:schemeClr val="accent1"/>
                </a:fgClr>
                <a:bgClr>
                  <a:srgbClr val="F0F1FA"/>
                </a:bgClr>
              </a:pattFill>
              <a:ln>
                <a:noFill/>
              </a:ln>
              <a:effectLst/>
            </c:spPr>
            <c:extLst>
              <c:ext xmlns:c16="http://schemas.microsoft.com/office/drawing/2014/chart" uri="{C3380CC4-5D6E-409C-BE32-E72D297353CC}">
                <c16:uniqueId val="{00000003-C4BB-5F4C-BD80-8B19EF610B95}"/>
              </c:ext>
            </c:extLst>
          </c:dPt>
          <c:dPt>
            <c:idx val="3"/>
            <c:invertIfNegative val="0"/>
            <c:bubble3D val="0"/>
            <c:spPr>
              <a:pattFill prst="wdUpDiag">
                <a:fgClr>
                  <a:schemeClr val="accent1"/>
                </a:fgClr>
                <a:bgClr>
                  <a:srgbClr val="F0F1FA"/>
                </a:bgClr>
              </a:pattFill>
              <a:ln>
                <a:noFill/>
              </a:ln>
              <a:effectLst/>
            </c:spPr>
            <c:extLst>
              <c:ext xmlns:c16="http://schemas.microsoft.com/office/drawing/2014/chart" uri="{C3380CC4-5D6E-409C-BE32-E72D297353CC}">
                <c16:uniqueId val="{00000004-C4BB-5F4C-BD80-8B19EF610B95}"/>
              </c:ext>
            </c:extLst>
          </c:dPt>
          <c:cat>
            <c:strRef>
              <c:f>Sheet1!$A$2:$A$5</c:f>
              <c:strCache>
                <c:ptCount val="4"/>
                <c:pt idx="0">
                  <c:v>Customer</c:v>
                </c:pt>
                <c:pt idx="1">
                  <c:v>Product</c:v>
                </c:pt>
                <c:pt idx="2">
                  <c:v>Marketing</c:v>
                </c:pt>
                <c:pt idx="3">
                  <c:v>Sales</c:v>
                </c:pt>
              </c:strCache>
            </c:strRef>
          </c:cat>
          <c:val>
            <c:numRef>
              <c:f>Sheet1!$B$2:$B$5</c:f>
              <c:numCache>
                <c:formatCode>General</c:formatCode>
                <c:ptCount val="4"/>
                <c:pt idx="0">
                  <c:v>0.4</c:v>
                </c:pt>
                <c:pt idx="1">
                  <c:v>2.2999999999999998</c:v>
                </c:pt>
                <c:pt idx="2">
                  <c:v>3.5</c:v>
                </c:pt>
                <c:pt idx="3">
                  <c:v>5.4</c:v>
                </c:pt>
              </c:numCache>
            </c:numRef>
          </c:val>
          <c:extLst>
            <c:ext xmlns:c16="http://schemas.microsoft.com/office/drawing/2014/chart" uri="{C3380CC4-5D6E-409C-BE32-E72D297353CC}">
              <c16:uniqueId val="{00000000-C4BB-5F4C-BD80-8B19EF610B95}"/>
            </c:ext>
          </c:extLst>
        </c:ser>
        <c:ser>
          <c:idx val="1"/>
          <c:order val="1"/>
          <c:tx>
            <c:strRef>
              <c:f>Sheet1!$C$1</c:f>
              <c:strCache>
                <c:ptCount val="1"/>
                <c:pt idx="0">
                  <c:v>Series 2</c:v>
                </c:pt>
              </c:strCache>
            </c:strRef>
          </c:tx>
          <c:spPr>
            <a:solidFill>
              <a:schemeClr val="accent2"/>
            </a:solidFill>
            <a:ln>
              <a:noFill/>
            </a:ln>
            <a:effectLst/>
          </c:spPr>
          <c:invertIfNegative val="0"/>
          <c:dPt>
            <c:idx val="2"/>
            <c:invertIfNegative val="0"/>
            <c:bubble3D val="0"/>
            <c:spPr>
              <a:pattFill prst="wdUpDiag">
                <a:fgClr>
                  <a:schemeClr val="accent2"/>
                </a:fgClr>
                <a:bgClr>
                  <a:srgbClr val="F0F1FA"/>
                </a:bgClr>
              </a:pattFill>
              <a:ln>
                <a:noFill/>
              </a:ln>
              <a:effectLst/>
            </c:spPr>
            <c:extLst>
              <c:ext xmlns:c16="http://schemas.microsoft.com/office/drawing/2014/chart" uri="{C3380CC4-5D6E-409C-BE32-E72D297353CC}">
                <c16:uniqueId val="{00000005-C4BB-5F4C-BD80-8B19EF610B95}"/>
              </c:ext>
            </c:extLst>
          </c:dPt>
          <c:dPt>
            <c:idx val="3"/>
            <c:invertIfNegative val="0"/>
            <c:bubble3D val="0"/>
            <c:spPr>
              <a:pattFill prst="wdUpDiag">
                <a:fgClr>
                  <a:schemeClr val="accent2"/>
                </a:fgClr>
                <a:bgClr>
                  <a:srgbClr val="F0F1FA"/>
                </a:bgClr>
              </a:pattFill>
              <a:ln>
                <a:noFill/>
              </a:ln>
              <a:effectLst/>
            </c:spPr>
            <c:extLst>
              <c:ext xmlns:c16="http://schemas.microsoft.com/office/drawing/2014/chart" uri="{C3380CC4-5D6E-409C-BE32-E72D297353CC}">
                <c16:uniqueId val="{00000006-C4BB-5F4C-BD80-8B19EF610B95}"/>
              </c:ext>
            </c:extLst>
          </c:dPt>
          <c:cat>
            <c:strRef>
              <c:f>Sheet1!$A$2:$A$5</c:f>
              <c:strCache>
                <c:ptCount val="4"/>
                <c:pt idx="0">
                  <c:v>Customer</c:v>
                </c:pt>
                <c:pt idx="1">
                  <c:v>Product</c:v>
                </c:pt>
                <c:pt idx="2">
                  <c:v>Marketing</c:v>
                </c:pt>
                <c:pt idx="3">
                  <c:v>Sales</c:v>
                </c:pt>
              </c:strCache>
            </c:strRef>
          </c:cat>
          <c:val>
            <c:numRef>
              <c:f>Sheet1!$C$2:$C$5</c:f>
              <c:numCache>
                <c:formatCode>General</c:formatCode>
                <c:ptCount val="4"/>
                <c:pt idx="0">
                  <c:v>0.7</c:v>
                </c:pt>
                <c:pt idx="1">
                  <c:v>3.2</c:v>
                </c:pt>
                <c:pt idx="2">
                  <c:v>4.5999999999999996</c:v>
                </c:pt>
                <c:pt idx="3">
                  <c:v>7</c:v>
                </c:pt>
              </c:numCache>
            </c:numRef>
          </c:val>
          <c:extLst>
            <c:ext xmlns:c16="http://schemas.microsoft.com/office/drawing/2014/chart" uri="{C3380CC4-5D6E-409C-BE32-E72D297353CC}">
              <c16:uniqueId val="{00000001-C4BB-5F4C-BD80-8B19EF610B95}"/>
            </c:ext>
          </c:extLst>
        </c:ser>
        <c:dLbls>
          <c:showLegendKey val="0"/>
          <c:showVal val="0"/>
          <c:showCatName val="0"/>
          <c:showSerName val="0"/>
          <c:showPercent val="0"/>
          <c:showBubbleSize val="0"/>
        </c:dLbls>
        <c:gapWidth val="300"/>
        <c:axId val="1590885216"/>
        <c:axId val="1591157168"/>
      </c:barChart>
      <c:catAx>
        <c:axId val="1590885216"/>
        <c:scaling>
          <c:orientation val="minMax"/>
        </c:scaling>
        <c:delete val="1"/>
        <c:axPos val="b"/>
        <c:majorGridlines>
          <c:spPr>
            <a:ln w="9525" cap="flat" cmpd="sng" algn="ctr">
              <a:solidFill>
                <a:schemeClr val="bg1">
                  <a:lumMod val="85000"/>
                </a:schemeClr>
              </a:solidFill>
              <a:round/>
            </a:ln>
            <a:effectLst/>
          </c:spPr>
        </c:majorGridlines>
        <c:numFmt formatCode="General" sourceLinked="1"/>
        <c:majorTickMark val="none"/>
        <c:minorTickMark val="none"/>
        <c:tickLblPos val="nextTo"/>
        <c:crossAx val="1591157168"/>
        <c:crosses val="autoZero"/>
        <c:auto val="1"/>
        <c:lblAlgn val="ctr"/>
        <c:lblOffset val="100"/>
        <c:noMultiLvlLbl val="0"/>
      </c:catAx>
      <c:valAx>
        <c:axId val="159115716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5908852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b="0" i="0">
          <a:latin typeface="Century Gothic" panose="020B0502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493122536976748"/>
          <c:y val="4.0687398342444704E-2"/>
          <c:w val="0.75140711978779517"/>
          <c:h val="0.81244627654588086"/>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3AA-2247-8180-2E90553B2EE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3AA-2247-8180-2E90553B2EE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3AA-2247-8180-2E90553B2EE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3AA-2247-8180-2E90553B2EE6}"/>
              </c:ext>
            </c:extLst>
          </c:dPt>
          <c:cat>
            <c:strRef>
              <c:f>Sheet1!$A$2:$A$5</c:f>
              <c:strCache>
                <c:ptCount val="4"/>
                <c:pt idx="0">
                  <c:v>Math</c:v>
                </c:pt>
                <c:pt idx="1">
                  <c:v>Science</c:v>
                </c:pt>
                <c:pt idx="2">
                  <c:v>Grammar</c:v>
                </c:pt>
                <c:pt idx="3">
                  <c:v>History</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03AA-2247-8180-2E90553B2EE6}"/>
            </c:ext>
          </c:extLst>
        </c:ser>
        <c:dLbls>
          <c:showLegendKey val="0"/>
          <c:showVal val="0"/>
          <c:showCatName val="0"/>
          <c:showSerName val="0"/>
          <c:showPercent val="0"/>
          <c:showBubbleSize val="0"/>
          <c:showLeaderLines val="1"/>
        </c:dLbls>
        <c:firstSliceAng val="0"/>
        <c:holeSize val="59"/>
      </c:doughnutChart>
      <c:spPr>
        <a:noFill/>
        <a:ln>
          <a:noFill/>
        </a:ln>
        <a:effectLst/>
      </c:spPr>
    </c:plotArea>
    <c:legend>
      <c:legendPos val="b"/>
      <c:layout>
        <c:manualLayout>
          <c:xMode val="edge"/>
          <c:yMode val="edge"/>
          <c:x val="0"/>
          <c:y val="0.8539802959329178"/>
          <c:w val="1"/>
          <c:h val="0.14601970406708226"/>
        </c:manualLayout>
      </c:layout>
      <c:overlay val="0"/>
      <c:spPr>
        <a:noFill/>
        <a:ln>
          <a:noFill/>
        </a:ln>
        <a:effectLst/>
      </c:spPr>
      <c:txPr>
        <a:bodyPr rot="0" spcFirstLastPara="1" vertOverflow="ellipsis" vert="horz" wrap="square" anchor="ctr" anchorCtr="1"/>
        <a:lstStyle/>
        <a:p>
          <a:pPr>
            <a:defRPr sz="2800" b="0" i="0" u="none" strike="noStrike" kern="1200" baseline="0">
              <a:solidFill>
                <a:schemeClr val="tx2"/>
              </a:solidFill>
              <a:latin typeface="Century Gothic" panose="020B0502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Math</c:v>
                </c:pt>
                <c:pt idx="1">
                  <c:v>Science</c:v>
                </c:pt>
                <c:pt idx="2">
                  <c:v>History</c:v>
                </c:pt>
                <c:pt idx="3">
                  <c:v>Grammar</c:v>
                </c:pt>
              </c:strCache>
            </c:strRef>
          </c:cat>
          <c:val>
            <c:numRef>
              <c:f>Sheet1!$B$2:$B$5</c:f>
              <c:numCache>
                <c:formatCode>General</c:formatCode>
                <c:ptCount val="4"/>
                <c:pt idx="0">
                  <c:v>1.7</c:v>
                </c:pt>
                <c:pt idx="1">
                  <c:v>2.5</c:v>
                </c:pt>
                <c:pt idx="2">
                  <c:v>3.5</c:v>
                </c:pt>
                <c:pt idx="3">
                  <c:v>5.7</c:v>
                </c:pt>
              </c:numCache>
            </c:numRef>
          </c:val>
          <c:extLst>
            <c:ext xmlns:c16="http://schemas.microsoft.com/office/drawing/2014/chart" uri="{C3380CC4-5D6E-409C-BE32-E72D297353CC}">
              <c16:uniqueId val="{00000000-60FA-484D-A812-AFEA225723EC}"/>
            </c:ext>
          </c:extLst>
        </c:ser>
        <c:ser>
          <c:idx val="1"/>
          <c:order val="1"/>
          <c:tx>
            <c:strRef>
              <c:f>Sheet1!$C$1</c:f>
              <c:strCache>
                <c:ptCount val="1"/>
                <c:pt idx="0">
                  <c:v>Series 2</c:v>
                </c:pt>
              </c:strCache>
            </c:strRef>
          </c:tx>
          <c:spPr>
            <a:solidFill>
              <a:schemeClr val="accent2"/>
            </a:solidFill>
            <a:ln>
              <a:noFill/>
            </a:ln>
            <a:effectLst/>
          </c:spPr>
          <c:invertIfNegative val="0"/>
          <c:dPt>
            <c:idx val="0"/>
            <c:invertIfNegative val="0"/>
            <c:bubble3D val="0"/>
            <c:spPr>
              <a:solidFill>
                <a:schemeClr val="accent1">
                  <a:alpha val="65000"/>
                </a:schemeClr>
              </a:solidFill>
              <a:ln>
                <a:noFill/>
              </a:ln>
              <a:effectLst/>
            </c:spPr>
            <c:extLst>
              <c:ext xmlns:c16="http://schemas.microsoft.com/office/drawing/2014/chart" uri="{C3380CC4-5D6E-409C-BE32-E72D297353CC}">
                <c16:uniqueId val="{00000004-60FA-484D-A812-AFEA225723EC}"/>
              </c:ext>
            </c:extLst>
          </c:dPt>
          <c:dPt>
            <c:idx val="1"/>
            <c:invertIfNegative val="0"/>
            <c:bubble3D val="0"/>
            <c:spPr>
              <a:solidFill>
                <a:schemeClr val="accent1">
                  <a:alpha val="65000"/>
                </a:schemeClr>
              </a:solidFill>
              <a:ln>
                <a:noFill/>
              </a:ln>
              <a:effectLst/>
            </c:spPr>
            <c:extLst>
              <c:ext xmlns:c16="http://schemas.microsoft.com/office/drawing/2014/chart" uri="{C3380CC4-5D6E-409C-BE32-E72D297353CC}">
                <c16:uniqueId val="{00000005-60FA-484D-A812-AFEA225723EC}"/>
              </c:ext>
            </c:extLst>
          </c:dPt>
          <c:dPt>
            <c:idx val="2"/>
            <c:invertIfNegative val="0"/>
            <c:bubble3D val="0"/>
            <c:spPr>
              <a:solidFill>
                <a:schemeClr val="accent1">
                  <a:alpha val="65000"/>
                </a:schemeClr>
              </a:solidFill>
              <a:ln>
                <a:noFill/>
              </a:ln>
              <a:effectLst/>
            </c:spPr>
            <c:extLst>
              <c:ext xmlns:c16="http://schemas.microsoft.com/office/drawing/2014/chart" uri="{C3380CC4-5D6E-409C-BE32-E72D297353CC}">
                <c16:uniqueId val="{00000006-60FA-484D-A812-AFEA225723EC}"/>
              </c:ext>
            </c:extLst>
          </c:dPt>
          <c:dPt>
            <c:idx val="3"/>
            <c:invertIfNegative val="0"/>
            <c:bubble3D val="0"/>
            <c:spPr>
              <a:solidFill>
                <a:schemeClr val="accent1">
                  <a:alpha val="65000"/>
                </a:schemeClr>
              </a:solidFill>
              <a:ln>
                <a:noFill/>
              </a:ln>
              <a:effectLst/>
            </c:spPr>
            <c:extLst>
              <c:ext xmlns:c16="http://schemas.microsoft.com/office/drawing/2014/chart" uri="{C3380CC4-5D6E-409C-BE32-E72D297353CC}">
                <c16:uniqueId val="{00000007-60FA-484D-A812-AFEA225723EC}"/>
              </c:ext>
            </c:extLst>
          </c:dPt>
          <c:cat>
            <c:strRef>
              <c:f>Sheet1!$A$2:$A$5</c:f>
              <c:strCache>
                <c:ptCount val="4"/>
                <c:pt idx="0">
                  <c:v>Math</c:v>
                </c:pt>
                <c:pt idx="1">
                  <c:v>Science</c:v>
                </c:pt>
                <c:pt idx="2">
                  <c:v>History</c:v>
                </c:pt>
                <c:pt idx="3">
                  <c:v>Grammar</c:v>
                </c:pt>
              </c:strCache>
            </c:strRef>
          </c:cat>
          <c:val>
            <c:numRef>
              <c:f>Sheet1!$C$2:$C$5</c:f>
              <c:numCache>
                <c:formatCode>General</c:formatCode>
                <c:ptCount val="4"/>
                <c:pt idx="0">
                  <c:v>2.1</c:v>
                </c:pt>
                <c:pt idx="1">
                  <c:v>3.2</c:v>
                </c:pt>
                <c:pt idx="2">
                  <c:v>4.4000000000000004</c:v>
                </c:pt>
                <c:pt idx="3">
                  <c:v>6.3</c:v>
                </c:pt>
              </c:numCache>
            </c:numRef>
          </c:val>
          <c:extLst>
            <c:ext xmlns:c16="http://schemas.microsoft.com/office/drawing/2014/chart" uri="{C3380CC4-5D6E-409C-BE32-E72D297353CC}">
              <c16:uniqueId val="{00000001-60FA-484D-A812-AFEA225723EC}"/>
            </c:ext>
          </c:extLst>
        </c:ser>
        <c:dLbls>
          <c:showLegendKey val="0"/>
          <c:showVal val="0"/>
          <c:showCatName val="0"/>
          <c:showSerName val="0"/>
          <c:showPercent val="0"/>
          <c:showBubbleSize val="0"/>
        </c:dLbls>
        <c:gapWidth val="27"/>
        <c:overlap val="100"/>
        <c:axId val="2045607216"/>
        <c:axId val="2045613152"/>
      </c:barChart>
      <c:catAx>
        <c:axId val="2045607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2045613152"/>
        <c:crosses val="autoZero"/>
        <c:auto val="1"/>
        <c:lblAlgn val="ctr"/>
        <c:lblOffset val="100"/>
        <c:noMultiLvlLbl val="0"/>
      </c:catAx>
      <c:valAx>
        <c:axId val="2045613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20456072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latin typeface="Century Gothic" panose="020B0502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2-F00C-FA4A-A58D-688C9529B725}"/>
              </c:ext>
            </c:extLst>
          </c:dPt>
          <c:cat>
            <c:strRef>
              <c:f>Sheet1!$A$2:$A$11</c:f>
              <c:strCache>
                <c:ptCount val="10"/>
                <c:pt idx="0">
                  <c:v>Jan</c:v>
                </c:pt>
                <c:pt idx="1">
                  <c:v>Feb</c:v>
                </c:pt>
                <c:pt idx="2">
                  <c:v>Mar</c:v>
                </c:pt>
                <c:pt idx="3">
                  <c:v>Apr</c:v>
                </c:pt>
                <c:pt idx="4">
                  <c:v>May</c:v>
                </c:pt>
                <c:pt idx="5">
                  <c:v>Jun</c:v>
                </c:pt>
                <c:pt idx="6">
                  <c:v>Jul</c:v>
                </c:pt>
                <c:pt idx="7">
                  <c:v>Ago</c:v>
                </c:pt>
                <c:pt idx="8">
                  <c:v>Sep</c:v>
                </c:pt>
                <c:pt idx="9">
                  <c:v>Oct</c:v>
                </c:pt>
              </c:strCache>
            </c:strRef>
          </c:cat>
          <c:val>
            <c:numRef>
              <c:f>Sheet1!$B$2:$B$11</c:f>
              <c:numCache>
                <c:formatCode>General</c:formatCode>
                <c:ptCount val="10"/>
                <c:pt idx="0">
                  <c:v>7.2</c:v>
                </c:pt>
                <c:pt idx="1">
                  <c:v>6</c:v>
                </c:pt>
                <c:pt idx="2">
                  <c:v>5</c:v>
                </c:pt>
                <c:pt idx="3">
                  <c:v>4</c:v>
                </c:pt>
                <c:pt idx="4">
                  <c:v>3</c:v>
                </c:pt>
                <c:pt idx="5">
                  <c:v>2</c:v>
                </c:pt>
                <c:pt idx="6">
                  <c:v>1</c:v>
                </c:pt>
                <c:pt idx="7">
                  <c:v>0.5</c:v>
                </c:pt>
                <c:pt idx="8">
                  <c:v>0.3</c:v>
                </c:pt>
                <c:pt idx="9">
                  <c:v>0.1</c:v>
                </c:pt>
              </c:numCache>
            </c:numRef>
          </c:val>
          <c:extLst>
            <c:ext xmlns:c16="http://schemas.microsoft.com/office/drawing/2014/chart" uri="{C3380CC4-5D6E-409C-BE32-E72D297353CC}">
              <c16:uniqueId val="{00000000-F00C-FA4A-A58D-688C9529B725}"/>
            </c:ext>
          </c:extLst>
        </c:ser>
        <c:dLbls>
          <c:showLegendKey val="0"/>
          <c:showVal val="0"/>
          <c:showCatName val="0"/>
          <c:showSerName val="0"/>
          <c:showPercent val="0"/>
          <c:showBubbleSize val="0"/>
        </c:dLbls>
        <c:gapWidth val="150"/>
        <c:overlap val="100"/>
        <c:axId val="1494714192"/>
        <c:axId val="1375119840"/>
      </c:barChart>
      <c:catAx>
        <c:axId val="1494714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Century Gothic" panose="020B0502020202020204" pitchFamily="34" charset="0"/>
                <a:ea typeface="+mn-ea"/>
                <a:cs typeface="+mn-cs"/>
              </a:defRPr>
            </a:pPr>
            <a:endParaRPr lang="en-US"/>
          </a:p>
        </c:txPr>
        <c:crossAx val="1375119840"/>
        <c:crosses val="autoZero"/>
        <c:auto val="1"/>
        <c:lblAlgn val="ctr"/>
        <c:lblOffset val="100"/>
        <c:noMultiLvlLbl val="0"/>
      </c:catAx>
      <c:valAx>
        <c:axId val="137511984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4947141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b="0" i="0">
          <a:solidFill>
            <a:schemeClr val="tx1"/>
          </a:solidFill>
          <a:latin typeface="Century Gothic" panose="020B0502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Sheet1!$A$2:$A$11</c:f>
              <c:strCache>
                <c:ptCount val="10"/>
                <c:pt idx="0">
                  <c:v>Jan</c:v>
                </c:pt>
                <c:pt idx="1">
                  <c:v>Feb</c:v>
                </c:pt>
                <c:pt idx="2">
                  <c:v>Mar</c:v>
                </c:pt>
                <c:pt idx="3">
                  <c:v>Apr</c:v>
                </c:pt>
                <c:pt idx="4">
                  <c:v>May</c:v>
                </c:pt>
                <c:pt idx="5">
                  <c:v>Jun</c:v>
                </c:pt>
                <c:pt idx="6">
                  <c:v>Jul</c:v>
                </c:pt>
                <c:pt idx="7">
                  <c:v>Ago</c:v>
                </c:pt>
                <c:pt idx="8">
                  <c:v>Sep</c:v>
                </c:pt>
                <c:pt idx="9">
                  <c:v>Oct</c:v>
                </c:pt>
              </c:strCache>
            </c:strRef>
          </c:cat>
          <c:val>
            <c:numRef>
              <c:f>Sheet1!$B$2:$B$11</c:f>
              <c:numCache>
                <c:formatCode>General</c:formatCode>
                <c:ptCount val="10"/>
                <c:pt idx="0">
                  <c:v>4.3</c:v>
                </c:pt>
                <c:pt idx="1">
                  <c:v>2.5</c:v>
                </c:pt>
                <c:pt idx="2">
                  <c:v>3.5</c:v>
                </c:pt>
                <c:pt idx="3">
                  <c:v>4.5</c:v>
                </c:pt>
                <c:pt idx="4">
                  <c:v>3.4</c:v>
                </c:pt>
                <c:pt idx="5">
                  <c:v>6.7</c:v>
                </c:pt>
                <c:pt idx="6">
                  <c:v>2.9</c:v>
                </c:pt>
                <c:pt idx="7">
                  <c:v>5</c:v>
                </c:pt>
                <c:pt idx="8">
                  <c:v>2.1</c:v>
                </c:pt>
                <c:pt idx="9">
                  <c:v>3.7</c:v>
                </c:pt>
              </c:numCache>
            </c:numRef>
          </c:val>
          <c:extLst>
            <c:ext xmlns:c16="http://schemas.microsoft.com/office/drawing/2014/chart" uri="{C3380CC4-5D6E-409C-BE32-E72D297353CC}">
              <c16:uniqueId val="{00000000-B997-B943-A469-7ED8363A922A}"/>
            </c:ext>
          </c:extLst>
        </c:ser>
        <c:dLbls>
          <c:showLegendKey val="0"/>
          <c:showVal val="0"/>
          <c:showCatName val="0"/>
          <c:showSerName val="0"/>
          <c:showPercent val="0"/>
          <c:showBubbleSize val="0"/>
        </c:dLbls>
        <c:gapWidth val="150"/>
        <c:overlap val="100"/>
        <c:axId val="1494714192"/>
        <c:axId val="1375119840"/>
      </c:barChart>
      <c:catAx>
        <c:axId val="1494714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Century Gothic" panose="020B0502020202020204" pitchFamily="34" charset="0"/>
                <a:ea typeface="+mn-ea"/>
                <a:cs typeface="+mn-cs"/>
              </a:defRPr>
            </a:pPr>
            <a:endParaRPr lang="en-US"/>
          </a:p>
        </c:txPr>
        <c:crossAx val="1375119840"/>
        <c:crosses val="autoZero"/>
        <c:auto val="1"/>
        <c:lblAlgn val="ctr"/>
        <c:lblOffset val="100"/>
        <c:noMultiLvlLbl val="0"/>
      </c:catAx>
      <c:valAx>
        <c:axId val="137511984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4947141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b="0" i="0">
          <a:solidFill>
            <a:schemeClr val="tx1"/>
          </a:solidFill>
          <a:latin typeface="Century Gothic" panose="020B050202020202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63500" cap="rnd">
              <a:solidFill>
                <a:schemeClr val="accent2"/>
              </a:solidFill>
              <a:round/>
            </a:ln>
            <a:effectLst/>
          </c:spPr>
          <c:marker>
            <c:symbol val="circle"/>
            <c:size val="20"/>
            <c:spPr>
              <a:solidFill>
                <a:schemeClr val="accent2"/>
              </a:solidFill>
              <a:ln w="63500">
                <a:solidFill>
                  <a:schemeClr val="accent2"/>
                </a:solidFill>
              </a:ln>
              <a:effectLst/>
            </c:spPr>
          </c:marker>
          <c:dLbls>
            <c:spPr>
              <a:noFill/>
              <a:ln>
                <a:noFill/>
              </a:ln>
              <a:effectLst/>
            </c:spPr>
            <c:txPr>
              <a:bodyPr rot="0" spcFirstLastPara="1" vertOverflow="ellipsis" vert="horz" wrap="square" anchor="ctr" anchorCtr="1"/>
              <a:lstStyle/>
              <a:p>
                <a:pPr>
                  <a:defRPr sz="1800" b="1" i="0" u="none" strike="noStrike" kern="1200" baseline="0">
                    <a:solidFill>
                      <a:schemeClr val="tx2"/>
                    </a:solidFill>
                    <a:latin typeface="Century Gothic" panose="020B0502020202020204" pitchFamily="34"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Jan</c:v>
                </c:pt>
                <c:pt idx="1">
                  <c:v>Feb</c:v>
                </c:pt>
                <c:pt idx="2">
                  <c:v>Mar</c:v>
                </c:pt>
                <c:pt idx="3">
                  <c:v>Apr</c:v>
                </c:pt>
                <c:pt idx="4">
                  <c:v>May</c:v>
                </c:pt>
                <c:pt idx="5">
                  <c:v>Jun</c:v>
                </c:pt>
                <c:pt idx="6">
                  <c:v>Jul</c:v>
                </c:pt>
                <c:pt idx="7">
                  <c:v>Aug</c:v>
                </c:pt>
                <c:pt idx="8">
                  <c:v>Sep</c:v>
                </c:pt>
                <c:pt idx="9">
                  <c:v>Oct</c:v>
                </c:pt>
              </c:strCache>
            </c:strRef>
          </c:cat>
          <c:val>
            <c:numRef>
              <c:f>Sheet1!$B$2:$B$11</c:f>
              <c:numCache>
                <c:formatCode>General</c:formatCode>
                <c:ptCount val="10"/>
                <c:pt idx="0">
                  <c:v>12</c:v>
                </c:pt>
                <c:pt idx="1">
                  <c:v>22</c:v>
                </c:pt>
                <c:pt idx="2">
                  <c:v>37</c:v>
                </c:pt>
                <c:pt idx="3">
                  <c:v>54</c:v>
                </c:pt>
                <c:pt idx="4">
                  <c:v>45</c:v>
                </c:pt>
                <c:pt idx="5">
                  <c:v>62</c:v>
                </c:pt>
                <c:pt idx="6">
                  <c:v>47</c:v>
                </c:pt>
                <c:pt idx="7">
                  <c:v>12</c:v>
                </c:pt>
                <c:pt idx="8">
                  <c:v>5</c:v>
                </c:pt>
                <c:pt idx="9">
                  <c:v>38</c:v>
                </c:pt>
              </c:numCache>
            </c:numRef>
          </c:val>
          <c:smooth val="0"/>
          <c:extLst>
            <c:ext xmlns:c16="http://schemas.microsoft.com/office/drawing/2014/chart" uri="{C3380CC4-5D6E-409C-BE32-E72D297353CC}">
              <c16:uniqueId val="{00000000-F778-1F41-BC54-16AF7F14B1E4}"/>
            </c:ext>
          </c:extLst>
        </c:ser>
        <c:dLbls>
          <c:dLblPos val="ctr"/>
          <c:showLegendKey val="0"/>
          <c:showVal val="1"/>
          <c:showCatName val="0"/>
          <c:showSerName val="0"/>
          <c:showPercent val="0"/>
          <c:showBubbleSize val="0"/>
        </c:dLbls>
        <c:marker val="1"/>
        <c:smooth val="0"/>
        <c:axId val="653524264"/>
        <c:axId val="653520000"/>
      </c:lineChart>
      <c:catAx>
        <c:axId val="653524264"/>
        <c:scaling>
          <c:orientation val="minMax"/>
        </c:scaling>
        <c:delete val="1"/>
        <c:axPos val="b"/>
        <c:numFmt formatCode="General" sourceLinked="1"/>
        <c:majorTickMark val="none"/>
        <c:minorTickMark val="none"/>
        <c:tickLblPos val="nextTo"/>
        <c:crossAx val="653520000"/>
        <c:crosses val="autoZero"/>
        <c:auto val="1"/>
        <c:lblAlgn val="ctr"/>
        <c:lblOffset val="100"/>
        <c:noMultiLvlLbl val="0"/>
      </c:catAx>
      <c:valAx>
        <c:axId val="653520000"/>
        <c:scaling>
          <c:orientation val="minMax"/>
        </c:scaling>
        <c:delete val="1"/>
        <c:axPos val="l"/>
        <c:numFmt formatCode="General" sourceLinked="1"/>
        <c:majorTickMark val="none"/>
        <c:minorTickMark val="none"/>
        <c:tickLblPos val="nextTo"/>
        <c:crossAx val="653524264"/>
        <c:crosses val="autoZero"/>
        <c:crossBetween val="between"/>
      </c:valAx>
      <c:spPr>
        <a:noFill/>
        <a:ln>
          <a:noFill/>
        </a:ln>
        <a:effectLst/>
      </c:spPr>
    </c:plotArea>
    <c:plotVisOnly val="1"/>
    <c:dispBlanksAs val="gap"/>
    <c:showDLblsOverMax val="0"/>
  </c:chart>
  <c:spPr>
    <a:noFill/>
    <a:ln>
      <a:noFill/>
    </a:ln>
    <a:effectLst/>
  </c:spPr>
  <c:txPr>
    <a:bodyPr/>
    <a:lstStyle/>
    <a:p>
      <a:pPr>
        <a:defRPr sz="1800">
          <a:latin typeface="Century Gothic" panose="020B050202020202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1">
                  <a:alpha val="10000"/>
                </a:schemeClr>
              </a:solidFill>
              <a:ln>
                <a:noFill/>
              </a:ln>
              <a:effectLst/>
            </c:spPr>
            <c:extLst>
              <c:ext xmlns:c16="http://schemas.microsoft.com/office/drawing/2014/chart" uri="{C3380CC4-5D6E-409C-BE32-E72D297353CC}">
                <c16:uniqueId val="{0000000B-B96C-6D40-B872-B78C52AA4EB4}"/>
              </c:ext>
            </c:extLst>
          </c:dPt>
          <c:dPt>
            <c:idx val="1"/>
            <c:invertIfNegative val="0"/>
            <c:bubble3D val="0"/>
            <c:spPr>
              <a:solidFill>
                <a:schemeClr val="accent1">
                  <a:alpha val="30000"/>
                </a:schemeClr>
              </a:solidFill>
              <a:ln>
                <a:noFill/>
              </a:ln>
              <a:effectLst/>
            </c:spPr>
            <c:extLst>
              <c:ext xmlns:c16="http://schemas.microsoft.com/office/drawing/2014/chart" uri="{C3380CC4-5D6E-409C-BE32-E72D297353CC}">
                <c16:uniqueId val="{00000001-B96C-6D40-B872-B78C52AA4EB4}"/>
              </c:ext>
            </c:extLst>
          </c:dPt>
          <c:dPt>
            <c:idx val="2"/>
            <c:invertIfNegative val="0"/>
            <c:bubble3D val="0"/>
            <c:spPr>
              <a:solidFill>
                <a:schemeClr val="accent1">
                  <a:alpha val="50000"/>
                </a:schemeClr>
              </a:solidFill>
              <a:ln>
                <a:noFill/>
              </a:ln>
              <a:effectLst/>
            </c:spPr>
            <c:extLst>
              <c:ext xmlns:c16="http://schemas.microsoft.com/office/drawing/2014/chart" uri="{C3380CC4-5D6E-409C-BE32-E72D297353CC}">
                <c16:uniqueId val="{00000003-B96C-6D40-B872-B78C52AA4EB4}"/>
              </c:ext>
            </c:extLst>
          </c:dPt>
          <c:dPt>
            <c:idx val="3"/>
            <c:invertIfNegative val="0"/>
            <c:bubble3D val="0"/>
            <c:spPr>
              <a:solidFill>
                <a:schemeClr val="accent1">
                  <a:alpha val="70000"/>
                </a:schemeClr>
              </a:solidFill>
              <a:ln>
                <a:noFill/>
              </a:ln>
              <a:effectLst/>
            </c:spPr>
            <c:extLst>
              <c:ext xmlns:c16="http://schemas.microsoft.com/office/drawing/2014/chart" uri="{C3380CC4-5D6E-409C-BE32-E72D297353CC}">
                <c16:uniqueId val="{00000005-B96C-6D40-B872-B78C52AA4EB4}"/>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7-B96C-6D40-B872-B78C52AA4EB4}"/>
              </c:ext>
            </c:extLst>
          </c:dPt>
          <c:dPt>
            <c:idx val="5"/>
            <c:invertIfNegative val="0"/>
            <c:bubble3D val="0"/>
            <c:spPr>
              <a:solidFill>
                <a:schemeClr val="accent1"/>
              </a:solidFill>
              <a:ln>
                <a:noFill/>
              </a:ln>
              <a:effectLst/>
            </c:spPr>
            <c:extLst>
              <c:ext xmlns:c16="http://schemas.microsoft.com/office/drawing/2014/chart" uri="{C3380CC4-5D6E-409C-BE32-E72D297353CC}">
                <c16:uniqueId val="{00000009-B96C-6D40-B872-B78C52AA4EB4}"/>
              </c:ext>
            </c:extLst>
          </c:dPt>
          <c:dLbls>
            <c:spPr>
              <a:noFill/>
              <a:ln>
                <a:noFill/>
              </a:ln>
              <a:effectLst/>
            </c:spPr>
            <c:txPr>
              <a:bodyPr rot="0" spcFirstLastPara="1" vertOverflow="ellipsis" vert="horz" wrap="square" anchor="ctr" anchorCtr="1"/>
              <a:lstStyle/>
              <a:p>
                <a:pPr>
                  <a:defRPr sz="2400" b="0" i="0" u="none" strike="noStrike" kern="1200" baseline="0">
                    <a:solidFill>
                      <a:schemeClr val="bg1"/>
                    </a:solidFill>
                    <a:latin typeface="Century Gothic" panose="020B0502020202020204" pitchFamily="34" charset="0"/>
                    <a:ea typeface="Lato Light" panose="020F0502020204030203" pitchFamily="34" charset="0"/>
                    <a:cs typeface="Lato Light" panose="020F0502020204030203" pitchFamily="34"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Payments</c:v>
                </c:pt>
                <c:pt idx="1">
                  <c:v>Transactions</c:v>
                </c:pt>
                <c:pt idx="2">
                  <c:v>September</c:v>
                </c:pt>
                <c:pt idx="3">
                  <c:v>Octuber</c:v>
                </c:pt>
                <c:pt idx="4">
                  <c:v>November</c:v>
                </c:pt>
              </c:strCache>
            </c:strRef>
          </c:cat>
          <c:val>
            <c:numRef>
              <c:f>Sheet1!$B$2:$B$6</c:f>
              <c:numCache>
                <c:formatCode>General</c:formatCode>
                <c:ptCount val="5"/>
                <c:pt idx="0">
                  <c:v>2.5</c:v>
                </c:pt>
                <c:pt idx="1">
                  <c:v>3.5</c:v>
                </c:pt>
                <c:pt idx="2">
                  <c:v>4.5</c:v>
                </c:pt>
                <c:pt idx="3">
                  <c:v>5.5</c:v>
                </c:pt>
                <c:pt idx="4">
                  <c:v>6.6</c:v>
                </c:pt>
              </c:numCache>
            </c:numRef>
          </c:val>
          <c:extLst>
            <c:ext xmlns:c16="http://schemas.microsoft.com/office/drawing/2014/chart" uri="{C3380CC4-5D6E-409C-BE32-E72D297353CC}">
              <c16:uniqueId val="{0000000A-B96C-6D40-B872-B78C52AA4EB4}"/>
            </c:ext>
          </c:extLst>
        </c:ser>
        <c:dLbls>
          <c:dLblPos val="inEnd"/>
          <c:showLegendKey val="0"/>
          <c:showVal val="1"/>
          <c:showCatName val="0"/>
          <c:showSerName val="0"/>
          <c:showPercent val="0"/>
          <c:showBubbleSize val="0"/>
        </c:dLbls>
        <c:gapWidth val="8"/>
        <c:overlap val="-27"/>
        <c:axId val="761211919"/>
        <c:axId val="760717855"/>
      </c:barChart>
      <c:catAx>
        <c:axId val="7612119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Century Gothic" panose="020B0502020202020204" pitchFamily="34" charset="0"/>
                <a:ea typeface="Lato Light" panose="020F0502020204030203" pitchFamily="34" charset="0"/>
                <a:cs typeface="Lato Light" panose="020F0502020204030203" pitchFamily="34" charset="0"/>
              </a:defRPr>
            </a:pPr>
            <a:endParaRPr lang="en-US"/>
          </a:p>
        </c:txPr>
        <c:crossAx val="760717855"/>
        <c:crosses val="autoZero"/>
        <c:auto val="1"/>
        <c:lblAlgn val="ctr"/>
        <c:lblOffset val="100"/>
        <c:noMultiLvlLbl val="0"/>
      </c:catAx>
      <c:valAx>
        <c:axId val="760717855"/>
        <c:scaling>
          <c:orientation val="minMax"/>
        </c:scaling>
        <c:delete val="0"/>
        <c:axPos val="l"/>
        <c:majorGridlines>
          <c:spPr>
            <a:ln w="25400" cap="flat" cmpd="sng" algn="ctr">
              <a:solidFill>
                <a:schemeClr val="tx1">
                  <a:lumMod val="20000"/>
                  <a:lumOff val="80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Century Gothic" panose="020B0502020202020204" pitchFamily="34" charset="0"/>
                <a:ea typeface="Lato Light" panose="020F0502020204030203" pitchFamily="34" charset="0"/>
                <a:cs typeface="Lato Light" panose="020F0502020204030203" pitchFamily="34" charset="0"/>
              </a:defRPr>
            </a:pPr>
            <a:endParaRPr lang="en-US"/>
          </a:p>
        </c:txPr>
        <c:crossAx val="76121191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400" b="0" i="0">
          <a:latin typeface="Century Gothic" panose="020B0502020202020204" pitchFamily="34" charset="0"/>
          <a:ea typeface="Lato Light" panose="020F0502020204030203" pitchFamily="34" charset="0"/>
          <a:cs typeface="Lato Light" panose="020F0502020204030203"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Math</c:v>
                </c:pt>
                <c:pt idx="1">
                  <c:v>Science</c:v>
                </c:pt>
                <c:pt idx="2">
                  <c:v>History</c:v>
                </c:pt>
                <c:pt idx="3">
                  <c:v>Grammar</c:v>
                </c:pt>
              </c:strCache>
            </c:strRef>
          </c:cat>
          <c:val>
            <c:numRef>
              <c:f>Sheet1!$B$2:$B$5</c:f>
              <c:numCache>
                <c:formatCode>General</c:formatCode>
                <c:ptCount val="4"/>
                <c:pt idx="0">
                  <c:v>1.7</c:v>
                </c:pt>
                <c:pt idx="1">
                  <c:v>2.5</c:v>
                </c:pt>
                <c:pt idx="2">
                  <c:v>3.5</c:v>
                </c:pt>
                <c:pt idx="3">
                  <c:v>5.7</c:v>
                </c:pt>
              </c:numCache>
            </c:numRef>
          </c:val>
          <c:extLst>
            <c:ext xmlns:c16="http://schemas.microsoft.com/office/drawing/2014/chart" uri="{C3380CC4-5D6E-409C-BE32-E72D297353CC}">
              <c16:uniqueId val="{00000000-60FA-484D-A812-AFEA225723EC}"/>
            </c:ext>
          </c:extLst>
        </c:ser>
        <c:ser>
          <c:idx val="1"/>
          <c:order val="1"/>
          <c:tx>
            <c:strRef>
              <c:f>Sheet1!$C$1</c:f>
              <c:strCache>
                <c:ptCount val="1"/>
                <c:pt idx="0">
                  <c:v>Series 2</c:v>
                </c:pt>
              </c:strCache>
            </c:strRef>
          </c:tx>
          <c:spPr>
            <a:solidFill>
              <a:schemeClr val="accent2"/>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4-60FA-484D-A812-AFEA225723EC}"/>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5-60FA-484D-A812-AFEA225723EC}"/>
              </c:ext>
            </c:extLst>
          </c:dPt>
          <c:dPt>
            <c:idx val="2"/>
            <c:invertIfNegative val="0"/>
            <c:bubble3D val="0"/>
            <c:spPr>
              <a:solidFill>
                <a:schemeClr val="accent2"/>
              </a:solidFill>
              <a:ln>
                <a:noFill/>
              </a:ln>
              <a:effectLst/>
            </c:spPr>
            <c:extLst>
              <c:ext xmlns:c16="http://schemas.microsoft.com/office/drawing/2014/chart" uri="{C3380CC4-5D6E-409C-BE32-E72D297353CC}">
                <c16:uniqueId val="{00000006-60FA-484D-A812-AFEA225723EC}"/>
              </c:ext>
            </c:extLst>
          </c:dPt>
          <c:dPt>
            <c:idx val="3"/>
            <c:invertIfNegative val="0"/>
            <c:bubble3D val="0"/>
            <c:spPr>
              <a:solidFill>
                <a:schemeClr val="accent2"/>
              </a:solidFill>
              <a:ln>
                <a:noFill/>
              </a:ln>
              <a:effectLst/>
            </c:spPr>
            <c:extLst>
              <c:ext xmlns:c16="http://schemas.microsoft.com/office/drawing/2014/chart" uri="{C3380CC4-5D6E-409C-BE32-E72D297353CC}">
                <c16:uniqueId val="{00000007-60FA-484D-A812-AFEA225723EC}"/>
              </c:ext>
            </c:extLst>
          </c:dPt>
          <c:cat>
            <c:strRef>
              <c:f>Sheet1!$A$2:$A$5</c:f>
              <c:strCache>
                <c:ptCount val="4"/>
                <c:pt idx="0">
                  <c:v>Math</c:v>
                </c:pt>
                <c:pt idx="1">
                  <c:v>Science</c:v>
                </c:pt>
                <c:pt idx="2">
                  <c:v>History</c:v>
                </c:pt>
                <c:pt idx="3">
                  <c:v>Grammar</c:v>
                </c:pt>
              </c:strCache>
            </c:strRef>
          </c:cat>
          <c:val>
            <c:numRef>
              <c:f>Sheet1!$C$2:$C$5</c:f>
              <c:numCache>
                <c:formatCode>General</c:formatCode>
                <c:ptCount val="4"/>
                <c:pt idx="0">
                  <c:v>2.1</c:v>
                </c:pt>
                <c:pt idx="1">
                  <c:v>3.2</c:v>
                </c:pt>
                <c:pt idx="2">
                  <c:v>4.4000000000000004</c:v>
                </c:pt>
                <c:pt idx="3">
                  <c:v>6.3</c:v>
                </c:pt>
              </c:numCache>
            </c:numRef>
          </c:val>
          <c:extLst>
            <c:ext xmlns:c16="http://schemas.microsoft.com/office/drawing/2014/chart" uri="{C3380CC4-5D6E-409C-BE32-E72D297353CC}">
              <c16:uniqueId val="{00000001-60FA-484D-A812-AFEA225723EC}"/>
            </c:ext>
          </c:extLst>
        </c:ser>
        <c:dLbls>
          <c:showLegendKey val="0"/>
          <c:showVal val="0"/>
          <c:showCatName val="0"/>
          <c:showSerName val="0"/>
          <c:showPercent val="0"/>
          <c:showBubbleSize val="0"/>
        </c:dLbls>
        <c:gapWidth val="27"/>
        <c:overlap val="100"/>
        <c:axId val="2045607216"/>
        <c:axId val="2045613152"/>
      </c:barChart>
      <c:catAx>
        <c:axId val="2045607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2045613152"/>
        <c:crosses val="autoZero"/>
        <c:auto val="1"/>
        <c:lblAlgn val="ctr"/>
        <c:lblOffset val="100"/>
        <c:noMultiLvlLbl val="0"/>
      </c:catAx>
      <c:valAx>
        <c:axId val="2045613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20456072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latin typeface="Century Gothic" panose="020B050202020202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4.5839026282174823E-2"/>
          <c:y val="3.5597805928366338E-2"/>
          <c:w val="0.95416097371782516"/>
          <c:h val="0.90208934553303188"/>
        </c:manualLayout>
      </c:layout>
      <c:lineChart>
        <c:grouping val="standard"/>
        <c:varyColors val="0"/>
        <c:ser>
          <c:idx val="0"/>
          <c:order val="0"/>
          <c:tx>
            <c:strRef>
              <c:f>Sheet1!$B$1</c:f>
              <c:strCache>
                <c:ptCount val="1"/>
                <c:pt idx="0">
                  <c:v>Series 1</c:v>
                </c:pt>
              </c:strCache>
            </c:strRef>
          </c:tx>
          <c:spPr>
            <a:ln w="63500" cap="rnd" cmpd="sng" algn="ctr">
              <a:solidFill>
                <a:schemeClr val="accent1"/>
              </a:solidFill>
              <a:round/>
            </a:ln>
            <a:effectLst/>
          </c:spPr>
          <c:marker>
            <c:symbol val="circle"/>
            <c:size val="20"/>
            <c:spPr>
              <a:solidFill>
                <a:schemeClr val="accent1"/>
              </a:solidFill>
              <a:ln w="9525" cap="flat" cmpd="sng" algn="ctr">
                <a:solidFill>
                  <a:schemeClr val="accent1">
                    <a:shade val="76000"/>
                  </a:schemeClr>
                </a:solidFill>
                <a:round/>
              </a:ln>
              <a:effectLst/>
            </c:spPr>
          </c:marker>
          <c:dLbls>
            <c:delete val="1"/>
          </c:dLbls>
          <c:cat>
            <c:strRef>
              <c:f>Sheet1!$A$2:$A$13</c:f>
              <c:strCache>
                <c:ptCount val="12"/>
                <c:pt idx="0">
                  <c:v>Jan</c:v>
                </c:pt>
                <c:pt idx="1">
                  <c:v>Feb</c:v>
                </c:pt>
                <c:pt idx="2">
                  <c:v>March</c:v>
                </c:pt>
                <c:pt idx="3">
                  <c:v>April</c:v>
                </c:pt>
                <c:pt idx="4">
                  <c:v>May</c:v>
                </c:pt>
                <c:pt idx="5">
                  <c:v>June</c:v>
                </c:pt>
                <c:pt idx="6">
                  <c:v>July</c:v>
                </c:pt>
                <c:pt idx="7">
                  <c:v>Aug</c:v>
                </c:pt>
                <c:pt idx="8">
                  <c:v>Sept</c:v>
                </c:pt>
                <c:pt idx="9">
                  <c:v>Oct</c:v>
                </c:pt>
                <c:pt idx="10">
                  <c:v>Nov</c:v>
                </c:pt>
                <c:pt idx="11">
                  <c:v>Dec</c:v>
                </c:pt>
              </c:strCache>
            </c:strRef>
          </c:cat>
          <c:val>
            <c:numRef>
              <c:f>Sheet1!$B$2:$B$13</c:f>
              <c:numCache>
                <c:formatCode>General</c:formatCode>
                <c:ptCount val="12"/>
                <c:pt idx="0">
                  <c:v>1.4</c:v>
                </c:pt>
                <c:pt idx="1">
                  <c:v>2</c:v>
                </c:pt>
                <c:pt idx="2">
                  <c:v>3.2</c:v>
                </c:pt>
                <c:pt idx="3">
                  <c:v>4</c:v>
                </c:pt>
                <c:pt idx="4">
                  <c:v>3.8</c:v>
                </c:pt>
                <c:pt idx="5">
                  <c:v>5</c:v>
                </c:pt>
                <c:pt idx="6">
                  <c:v>6</c:v>
                </c:pt>
                <c:pt idx="7">
                  <c:v>5.4</c:v>
                </c:pt>
                <c:pt idx="8">
                  <c:v>7</c:v>
                </c:pt>
                <c:pt idx="9">
                  <c:v>7.8</c:v>
                </c:pt>
                <c:pt idx="10">
                  <c:v>9</c:v>
                </c:pt>
                <c:pt idx="11">
                  <c:v>12.5</c:v>
                </c:pt>
              </c:numCache>
            </c:numRef>
          </c:val>
          <c:smooth val="0"/>
          <c:extLst>
            <c:ext xmlns:c16="http://schemas.microsoft.com/office/drawing/2014/chart" uri="{C3380CC4-5D6E-409C-BE32-E72D297353CC}">
              <c16:uniqueId val="{00000000-A6C0-AF42-B0A8-4C648F7D0FD1}"/>
            </c:ext>
          </c:extLst>
        </c:ser>
        <c:dLbls>
          <c:dLblPos val="ctr"/>
          <c:showLegendKey val="0"/>
          <c:showVal val="1"/>
          <c:showCatName val="0"/>
          <c:showSerName val="0"/>
          <c:showPercent val="0"/>
          <c:showBubbleSize val="0"/>
        </c:dLbls>
        <c:dropLines>
          <c:spPr>
            <a:ln w="25400" cap="flat" cmpd="sng" algn="ctr">
              <a:solidFill>
                <a:schemeClr val="tx1">
                  <a:alpha val="33000"/>
                </a:schemeClr>
              </a:solidFill>
              <a:prstDash val="lgDash"/>
              <a:round/>
            </a:ln>
            <a:effectLst/>
          </c:spPr>
        </c:dropLines>
        <c:marker val="1"/>
        <c:smooth val="0"/>
        <c:axId val="336702528"/>
        <c:axId val="336703312"/>
      </c:lineChart>
      <c:catAx>
        <c:axId val="336702528"/>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000" b="0" i="0" u="none" strike="noStrike" kern="1200" spc="20" baseline="0">
                <a:solidFill>
                  <a:schemeClr val="tx1"/>
                </a:solidFill>
                <a:latin typeface="Century Gothic" panose="020B0502020202020204" pitchFamily="34" charset="0"/>
                <a:ea typeface="Lato Light" panose="020F0502020204030203" pitchFamily="34" charset="0"/>
                <a:cs typeface="Lato Light" panose="020F0502020204030203" pitchFamily="34" charset="0"/>
              </a:defRPr>
            </a:pPr>
            <a:endParaRPr lang="en-US"/>
          </a:p>
        </c:txPr>
        <c:crossAx val="336703312"/>
        <c:crosses val="autoZero"/>
        <c:auto val="1"/>
        <c:lblAlgn val="ctr"/>
        <c:lblOffset val="100"/>
        <c:noMultiLvlLbl val="0"/>
      </c:catAx>
      <c:valAx>
        <c:axId val="336703312"/>
        <c:scaling>
          <c:orientation val="minMax"/>
        </c:scaling>
        <c:delete val="0"/>
        <c:axPos val="l"/>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spc="20" baseline="0">
                <a:solidFill>
                  <a:schemeClr val="tx1"/>
                </a:solidFill>
                <a:latin typeface="Century Gothic" panose="020B0502020202020204" pitchFamily="34" charset="0"/>
                <a:ea typeface="Lato Light" panose="020F0502020204030203" pitchFamily="34" charset="0"/>
                <a:cs typeface="Lato Light" panose="020F0502020204030203" pitchFamily="34" charset="0"/>
              </a:defRPr>
            </a:pPr>
            <a:endParaRPr lang="en-US"/>
          </a:p>
        </c:txPr>
        <c:crossAx val="336702528"/>
        <c:crosses val="autoZero"/>
        <c:crossBetween val="between"/>
      </c:valAx>
      <c:spPr>
        <a:noFill/>
        <a:ln>
          <a:noFill/>
        </a:ln>
        <a:effectLst/>
      </c:spPr>
    </c:plotArea>
    <c:plotVisOnly val="1"/>
    <c:dispBlanksAs val="gap"/>
    <c:showDLblsOverMax val="0"/>
  </c:chart>
  <c:spPr>
    <a:noFill/>
    <a:ln>
      <a:noFill/>
    </a:ln>
    <a:effectLst/>
  </c:spPr>
  <c:txPr>
    <a:bodyPr/>
    <a:lstStyle/>
    <a:p>
      <a:pPr>
        <a:defRPr sz="2000" b="0" i="0">
          <a:solidFill>
            <a:schemeClr val="tx1"/>
          </a:solidFill>
          <a:latin typeface="Century Gothic" panose="020B0502020202020204" pitchFamily="34" charset="0"/>
          <a:ea typeface="Lato Light" panose="020F0502020204030203" pitchFamily="34" charset="0"/>
          <a:cs typeface="Lato Light" panose="020F0502020204030203" pitchFamily="34"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percentStacked"/>
        <c:varyColors val="0"/>
        <c:ser>
          <c:idx val="0"/>
          <c:order val="0"/>
          <c:tx>
            <c:strRef>
              <c:f>Sheet1!$B$1</c:f>
              <c:strCache>
                <c:ptCount val="1"/>
                <c:pt idx="0">
                  <c:v>Series 1</c:v>
                </c:pt>
              </c:strCache>
            </c:strRef>
          </c:tx>
          <c:spPr>
            <a:solidFill>
              <a:schemeClr val="accent1"/>
            </a:solidFill>
            <a:ln>
              <a:noFill/>
            </a:ln>
            <a:effectLst/>
          </c:spPr>
          <c:cat>
            <c:numRef>
              <c:f>Sheet1!$A$2:$A$6</c:f>
              <c:numCache>
                <c:formatCode>m/d/yy</c:formatCode>
                <c:ptCount val="5"/>
                <c:pt idx="0">
                  <c:v>37261</c:v>
                </c:pt>
                <c:pt idx="1">
                  <c:v>37262</c:v>
                </c:pt>
                <c:pt idx="2">
                  <c:v>37263</c:v>
                </c:pt>
                <c:pt idx="3">
                  <c:v>37264</c:v>
                </c:pt>
                <c:pt idx="4">
                  <c:v>37265</c:v>
                </c:pt>
              </c:numCache>
            </c:numRef>
          </c:cat>
          <c:val>
            <c:numRef>
              <c:f>Sheet1!$B$2:$B$6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A559-694B-912E-4889EE200591}"/>
            </c:ext>
          </c:extLst>
        </c:ser>
        <c:ser>
          <c:idx val="1"/>
          <c:order val="1"/>
          <c:tx>
            <c:strRef>
              <c:f>Sheet1!$C$1</c:f>
              <c:strCache>
                <c:ptCount val="1"/>
                <c:pt idx="0">
                  <c:v>Series 2</c:v>
                </c:pt>
              </c:strCache>
            </c:strRef>
          </c:tx>
          <c:spPr>
            <a:solidFill>
              <a:schemeClr val="accent2"/>
            </a:solidFill>
            <a:ln>
              <a:noFill/>
            </a:ln>
            <a:effectLst/>
          </c:spPr>
          <c:cat>
            <c:numRef>
              <c:f>Sheet1!$A$2:$A$6</c:f>
              <c:numCache>
                <c:formatCode>m/d/yy</c:formatCode>
                <c:ptCount val="5"/>
                <c:pt idx="0">
                  <c:v>37261</c:v>
                </c:pt>
                <c:pt idx="1">
                  <c:v>37262</c:v>
                </c:pt>
                <c:pt idx="2">
                  <c:v>37263</c:v>
                </c:pt>
                <c:pt idx="3">
                  <c:v>37264</c:v>
                </c:pt>
                <c:pt idx="4">
                  <c:v>37265</c:v>
                </c:pt>
              </c:numCache>
            </c:numRef>
          </c:cat>
          <c:val>
            <c:numRef>
              <c:f>Sheet1!$C$2:$C$6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A559-694B-912E-4889EE200591}"/>
            </c:ext>
          </c:extLst>
        </c:ser>
        <c:dLbls>
          <c:showLegendKey val="0"/>
          <c:showVal val="0"/>
          <c:showCatName val="0"/>
          <c:showSerName val="0"/>
          <c:showPercent val="0"/>
          <c:showBubbleSize val="0"/>
        </c:dLbls>
        <c:axId val="2051316944"/>
        <c:axId val="97274879"/>
      </c:areaChart>
      <c:dateAx>
        <c:axId val="2051316944"/>
        <c:scaling>
          <c:orientation val="minMax"/>
        </c:scaling>
        <c:delete val="0"/>
        <c:axPos val="b"/>
        <c:numFmt formatCode="m/d/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97274879"/>
        <c:crosses val="autoZero"/>
        <c:auto val="1"/>
        <c:lblOffset val="100"/>
        <c:baseTimeUnit val="days"/>
      </c:dateAx>
      <c:valAx>
        <c:axId val="9727487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2051316944"/>
        <c:crosses val="autoZero"/>
        <c:crossBetween val="midCat"/>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latin typeface="Century Gothic" panose="020B0502020202020204" pitchFamily="34" charset="0"/>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493122536976748"/>
          <c:y val="4.0687398342444704E-2"/>
          <c:w val="0.75140711978779517"/>
          <c:h val="0.81244627654588086"/>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5CB-3446-8503-12C10FC19D0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5CB-3446-8503-12C10FC19D0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5CB-3446-8503-12C10FC19D06}"/>
              </c:ext>
            </c:extLst>
          </c:dPt>
          <c:cat>
            <c:strRef>
              <c:f>Sheet1!$A$2:$A$4</c:f>
              <c:strCache>
                <c:ptCount val="3"/>
                <c:pt idx="0">
                  <c:v>Math</c:v>
                </c:pt>
                <c:pt idx="1">
                  <c:v>Science</c:v>
                </c:pt>
                <c:pt idx="2">
                  <c:v>Grammar</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8-15CB-3446-8503-12C10FC19D06}"/>
            </c:ext>
          </c:extLst>
        </c:ser>
        <c:dLbls>
          <c:showLegendKey val="0"/>
          <c:showVal val="0"/>
          <c:showCatName val="0"/>
          <c:showSerName val="0"/>
          <c:showPercent val="0"/>
          <c:showBubbleSize val="0"/>
          <c:showLeaderLines val="1"/>
        </c:dLbls>
        <c:firstSliceAng val="0"/>
        <c:holeSize val="59"/>
      </c:doughnutChart>
      <c:spPr>
        <a:noFill/>
        <a:ln>
          <a:noFill/>
        </a:ln>
        <a:effectLst/>
      </c:spPr>
    </c:plotArea>
    <c:legend>
      <c:legendPos val="b"/>
      <c:layout>
        <c:manualLayout>
          <c:xMode val="edge"/>
          <c:yMode val="edge"/>
          <c:x val="0"/>
          <c:y val="0.8539802959329178"/>
          <c:w val="1"/>
          <c:h val="0.14601970406708226"/>
        </c:manualLayout>
      </c:layout>
      <c:overlay val="0"/>
      <c:spPr>
        <a:noFill/>
        <a:ln>
          <a:noFill/>
        </a:ln>
        <a:effectLst/>
      </c:spPr>
      <c:txPr>
        <a:bodyPr rot="0" spcFirstLastPara="1" vertOverflow="ellipsis" vert="horz" wrap="square" anchor="ctr" anchorCtr="1"/>
        <a:lstStyle/>
        <a:p>
          <a:pPr>
            <a:defRPr sz="2800" b="0" i="0" u="none" strike="noStrike" kern="1200" baseline="0">
              <a:solidFill>
                <a:schemeClr val="tx2"/>
              </a:solidFill>
              <a:latin typeface="Century Gothic" panose="020B0502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lumMod val="20000"/>
                <a:lumOff val="80000"/>
              </a:schemeClr>
            </a:solidFill>
            <a:ln>
              <a:noFill/>
            </a:ln>
            <a:effectLst/>
          </c:spPr>
          <c:invertIfNegative val="0"/>
          <c:dPt>
            <c:idx val="1"/>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1-942C-E64D-88C2-013975DB996E}"/>
              </c:ext>
            </c:extLst>
          </c:dPt>
          <c:dPt>
            <c:idx val="2"/>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3-942C-E64D-88C2-013975DB996E}"/>
              </c:ext>
            </c:extLst>
          </c:dPt>
          <c:dPt>
            <c:idx val="3"/>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5-942C-E64D-88C2-013975DB996E}"/>
              </c:ext>
            </c:extLst>
          </c:dPt>
          <c:dPt>
            <c:idx val="4"/>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7-942C-E64D-88C2-013975DB996E}"/>
              </c:ext>
            </c:extLst>
          </c:dPt>
          <c:dPt>
            <c:idx val="5"/>
            <c:invertIfNegative val="0"/>
            <c:bubble3D val="0"/>
            <c:spPr>
              <a:solidFill>
                <a:schemeClr val="accent1"/>
              </a:solidFill>
              <a:ln>
                <a:noFill/>
              </a:ln>
              <a:effectLst/>
            </c:spPr>
            <c:extLst>
              <c:ext xmlns:c16="http://schemas.microsoft.com/office/drawing/2014/chart" uri="{C3380CC4-5D6E-409C-BE32-E72D297353CC}">
                <c16:uniqueId val="{00000009-942C-E64D-88C2-013975DB996E}"/>
              </c:ext>
            </c:extLst>
          </c:dPt>
          <c:dPt>
            <c:idx val="7"/>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B-942C-E64D-88C2-013975DB996E}"/>
              </c:ext>
            </c:extLst>
          </c:dPt>
          <c:dPt>
            <c:idx val="8"/>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D-942C-E64D-88C2-013975DB996E}"/>
              </c:ext>
            </c:extLst>
          </c:dPt>
          <c:dPt>
            <c:idx val="9"/>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F-942C-E64D-88C2-013975DB996E}"/>
              </c:ext>
            </c:extLst>
          </c:dPt>
          <c:cat>
            <c:strRef>
              <c:f>Sheet1!$A$2:$A$11</c:f>
              <c:strCache>
                <c:ptCount val="10"/>
                <c:pt idx="0">
                  <c:v>Jan</c:v>
                </c:pt>
                <c:pt idx="1">
                  <c:v>Feb</c:v>
                </c:pt>
                <c:pt idx="2">
                  <c:v>Mar</c:v>
                </c:pt>
                <c:pt idx="3">
                  <c:v>Apr</c:v>
                </c:pt>
                <c:pt idx="4">
                  <c:v>May</c:v>
                </c:pt>
                <c:pt idx="5">
                  <c:v>Jun</c:v>
                </c:pt>
                <c:pt idx="6">
                  <c:v>Jul</c:v>
                </c:pt>
                <c:pt idx="7">
                  <c:v>Ago</c:v>
                </c:pt>
                <c:pt idx="8">
                  <c:v>Sep</c:v>
                </c:pt>
                <c:pt idx="9">
                  <c:v>Oct</c:v>
                </c:pt>
              </c:strCache>
            </c:strRef>
          </c:cat>
          <c:val>
            <c:numRef>
              <c:f>Sheet1!$B$2:$B$11</c:f>
              <c:numCache>
                <c:formatCode>General</c:formatCode>
                <c:ptCount val="10"/>
                <c:pt idx="0">
                  <c:v>4.3</c:v>
                </c:pt>
                <c:pt idx="1">
                  <c:v>2.5</c:v>
                </c:pt>
                <c:pt idx="2">
                  <c:v>3.5</c:v>
                </c:pt>
                <c:pt idx="3">
                  <c:v>4.5</c:v>
                </c:pt>
                <c:pt idx="4">
                  <c:v>3.4</c:v>
                </c:pt>
                <c:pt idx="5">
                  <c:v>6.7</c:v>
                </c:pt>
                <c:pt idx="6">
                  <c:v>2.9</c:v>
                </c:pt>
                <c:pt idx="7">
                  <c:v>5</c:v>
                </c:pt>
                <c:pt idx="8">
                  <c:v>2.1</c:v>
                </c:pt>
                <c:pt idx="9">
                  <c:v>3.7</c:v>
                </c:pt>
              </c:numCache>
            </c:numRef>
          </c:val>
          <c:extLst>
            <c:ext xmlns:c16="http://schemas.microsoft.com/office/drawing/2014/chart" uri="{C3380CC4-5D6E-409C-BE32-E72D297353CC}">
              <c16:uniqueId val="{00000010-942C-E64D-88C2-013975DB996E}"/>
            </c:ext>
          </c:extLst>
        </c:ser>
        <c:dLbls>
          <c:showLegendKey val="0"/>
          <c:showVal val="0"/>
          <c:showCatName val="0"/>
          <c:showSerName val="0"/>
          <c:showPercent val="0"/>
          <c:showBubbleSize val="0"/>
        </c:dLbls>
        <c:gapWidth val="150"/>
        <c:overlap val="100"/>
        <c:axId val="1494714192"/>
        <c:axId val="1375119840"/>
      </c:barChart>
      <c:catAx>
        <c:axId val="1494714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375119840"/>
        <c:crosses val="autoZero"/>
        <c:auto val="1"/>
        <c:lblAlgn val="ctr"/>
        <c:lblOffset val="100"/>
        <c:noMultiLvlLbl val="0"/>
      </c:catAx>
      <c:valAx>
        <c:axId val="1375119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4947141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latin typeface="Century Gothic" panose="020B0502020202020204" pitchFamily="34" charset="0"/>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lumMod val="20000"/>
                <a:lumOff val="80000"/>
              </a:schemeClr>
            </a:solidFill>
            <a:ln>
              <a:noFill/>
            </a:ln>
            <a:effectLst/>
          </c:spPr>
          <c:invertIfNegative val="0"/>
          <c:dPt>
            <c:idx val="1"/>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1-942C-E64D-88C2-013975DB996E}"/>
              </c:ext>
            </c:extLst>
          </c:dPt>
          <c:dPt>
            <c:idx val="2"/>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3-942C-E64D-88C2-013975DB996E}"/>
              </c:ext>
            </c:extLst>
          </c:dPt>
          <c:dPt>
            <c:idx val="3"/>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5-942C-E64D-88C2-013975DB996E}"/>
              </c:ext>
            </c:extLst>
          </c:dPt>
          <c:dPt>
            <c:idx val="4"/>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7-942C-E64D-88C2-013975DB996E}"/>
              </c:ext>
            </c:extLst>
          </c:dPt>
          <c:dPt>
            <c:idx val="5"/>
            <c:invertIfNegative val="0"/>
            <c:bubble3D val="0"/>
            <c:spPr>
              <a:solidFill>
                <a:schemeClr val="accent1"/>
              </a:solidFill>
              <a:ln>
                <a:noFill/>
              </a:ln>
              <a:effectLst/>
            </c:spPr>
            <c:extLst>
              <c:ext xmlns:c16="http://schemas.microsoft.com/office/drawing/2014/chart" uri="{C3380CC4-5D6E-409C-BE32-E72D297353CC}">
                <c16:uniqueId val="{00000009-942C-E64D-88C2-013975DB996E}"/>
              </c:ext>
            </c:extLst>
          </c:dPt>
          <c:dPt>
            <c:idx val="7"/>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B-942C-E64D-88C2-013975DB996E}"/>
              </c:ext>
            </c:extLst>
          </c:dPt>
          <c:dPt>
            <c:idx val="8"/>
            <c:invertIfNegative val="0"/>
            <c:bubble3D val="0"/>
            <c:spPr>
              <a:solidFill>
                <a:schemeClr val="accent2"/>
              </a:solidFill>
              <a:ln>
                <a:noFill/>
              </a:ln>
              <a:effectLst/>
            </c:spPr>
            <c:extLst>
              <c:ext xmlns:c16="http://schemas.microsoft.com/office/drawing/2014/chart" uri="{C3380CC4-5D6E-409C-BE32-E72D297353CC}">
                <c16:uniqueId val="{0000000D-942C-E64D-88C2-013975DB996E}"/>
              </c:ext>
            </c:extLst>
          </c:dPt>
          <c:dPt>
            <c:idx val="9"/>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F-942C-E64D-88C2-013975DB996E}"/>
              </c:ext>
            </c:extLst>
          </c:dPt>
          <c:cat>
            <c:strRef>
              <c:f>Sheet1!$A$2:$A$11</c:f>
              <c:strCache>
                <c:ptCount val="10"/>
                <c:pt idx="0">
                  <c:v>Jan</c:v>
                </c:pt>
                <c:pt idx="1">
                  <c:v>Feb</c:v>
                </c:pt>
                <c:pt idx="2">
                  <c:v>Mar</c:v>
                </c:pt>
                <c:pt idx="3">
                  <c:v>Apr</c:v>
                </c:pt>
                <c:pt idx="4">
                  <c:v>May</c:v>
                </c:pt>
                <c:pt idx="5">
                  <c:v>Jun</c:v>
                </c:pt>
                <c:pt idx="6">
                  <c:v>Jul</c:v>
                </c:pt>
                <c:pt idx="7">
                  <c:v>Ago</c:v>
                </c:pt>
                <c:pt idx="8">
                  <c:v>Sep</c:v>
                </c:pt>
                <c:pt idx="9">
                  <c:v>Oct</c:v>
                </c:pt>
              </c:strCache>
            </c:strRef>
          </c:cat>
          <c:val>
            <c:numRef>
              <c:f>Sheet1!$B$2:$B$11</c:f>
              <c:numCache>
                <c:formatCode>General</c:formatCode>
                <c:ptCount val="10"/>
                <c:pt idx="0">
                  <c:v>4.3</c:v>
                </c:pt>
                <c:pt idx="1">
                  <c:v>2.5</c:v>
                </c:pt>
                <c:pt idx="2">
                  <c:v>3.5</c:v>
                </c:pt>
                <c:pt idx="3">
                  <c:v>4.5</c:v>
                </c:pt>
                <c:pt idx="4">
                  <c:v>3.4</c:v>
                </c:pt>
                <c:pt idx="5">
                  <c:v>6.7</c:v>
                </c:pt>
                <c:pt idx="6">
                  <c:v>2.9</c:v>
                </c:pt>
                <c:pt idx="7">
                  <c:v>5</c:v>
                </c:pt>
                <c:pt idx="8">
                  <c:v>2.1</c:v>
                </c:pt>
                <c:pt idx="9">
                  <c:v>3.7</c:v>
                </c:pt>
              </c:numCache>
            </c:numRef>
          </c:val>
          <c:extLst>
            <c:ext xmlns:c16="http://schemas.microsoft.com/office/drawing/2014/chart" uri="{C3380CC4-5D6E-409C-BE32-E72D297353CC}">
              <c16:uniqueId val="{00000010-942C-E64D-88C2-013975DB996E}"/>
            </c:ext>
          </c:extLst>
        </c:ser>
        <c:dLbls>
          <c:showLegendKey val="0"/>
          <c:showVal val="0"/>
          <c:showCatName val="0"/>
          <c:showSerName val="0"/>
          <c:showPercent val="0"/>
          <c:showBubbleSize val="0"/>
        </c:dLbls>
        <c:gapWidth val="150"/>
        <c:overlap val="100"/>
        <c:axId val="1494714192"/>
        <c:axId val="1375119840"/>
      </c:barChart>
      <c:catAx>
        <c:axId val="1494714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375119840"/>
        <c:crosses val="autoZero"/>
        <c:auto val="1"/>
        <c:lblAlgn val="ctr"/>
        <c:lblOffset val="100"/>
        <c:noMultiLvlLbl val="0"/>
      </c:catAx>
      <c:valAx>
        <c:axId val="1375119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4947141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800">
          <a:latin typeface="Century Gothic" panose="020B0502020202020204" pitchFamily="34" charset="0"/>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392995628877597E-2"/>
          <c:y val="8.7725471601745972E-2"/>
          <c:w val="0.92562513848602002"/>
          <c:h val="0.81244802966292273"/>
        </c:manualLayout>
      </c:layout>
      <c:barChart>
        <c:barDir val="col"/>
        <c:grouping val="clustered"/>
        <c:varyColors val="0"/>
        <c:ser>
          <c:idx val="0"/>
          <c:order val="0"/>
          <c:tx>
            <c:strRef>
              <c:f>Sheet1!$B$1</c:f>
              <c:strCache>
                <c:ptCount val="1"/>
                <c:pt idx="0">
                  <c:v>NASDAQ</c:v>
                </c:pt>
              </c:strCache>
            </c:strRef>
          </c:tx>
          <c:spPr>
            <a:solidFill>
              <a:schemeClr val="accent1"/>
            </a:solidFill>
            <a:ln>
              <a:noFill/>
            </a:ln>
            <a:effectLst/>
          </c:spPr>
          <c:invertIfNegative val="0"/>
          <c:cat>
            <c:strRef>
              <c:f>Sheet1!$A$2:$A$7</c:f>
              <c:strCache>
                <c:ptCount val="6"/>
                <c:pt idx="0">
                  <c:v>January</c:v>
                </c:pt>
                <c:pt idx="1">
                  <c:v>February</c:v>
                </c:pt>
                <c:pt idx="2">
                  <c:v>March </c:v>
                </c:pt>
                <c:pt idx="3">
                  <c:v>April</c:v>
                </c:pt>
                <c:pt idx="4">
                  <c:v>May</c:v>
                </c:pt>
                <c:pt idx="5">
                  <c:v>June</c:v>
                </c:pt>
              </c:strCache>
            </c:strRef>
          </c:cat>
          <c:val>
            <c:numRef>
              <c:f>Sheet1!$B$2:$B$7</c:f>
              <c:numCache>
                <c:formatCode>General</c:formatCode>
                <c:ptCount val="6"/>
                <c:pt idx="0">
                  <c:v>4.3</c:v>
                </c:pt>
                <c:pt idx="1">
                  <c:v>2.5</c:v>
                </c:pt>
                <c:pt idx="2">
                  <c:v>3.5</c:v>
                </c:pt>
                <c:pt idx="3">
                  <c:v>4.5</c:v>
                </c:pt>
                <c:pt idx="4">
                  <c:v>4.3</c:v>
                </c:pt>
                <c:pt idx="5">
                  <c:v>4.4000000000000004</c:v>
                </c:pt>
              </c:numCache>
            </c:numRef>
          </c:val>
          <c:extLst>
            <c:ext xmlns:c16="http://schemas.microsoft.com/office/drawing/2014/chart" uri="{C3380CC4-5D6E-409C-BE32-E72D297353CC}">
              <c16:uniqueId val="{00000000-0F2E-4345-A0BA-7640945CEE7C}"/>
            </c:ext>
          </c:extLst>
        </c:ser>
        <c:ser>
          <c:idx val="1"/>
          <c:order val="1"/>
          <c:tx>
            <c:strRef>
              <c:f>Sheet1!$C$1</c:f>
              <c:strCache>
                <c:ptCount val="1"/>
                <c:pt idx="0">
                  <c:v>NYSE</c:v>
                </c:pt>
              </c:strCache>
            </c:strRef>
          </c:tx>
          <c:spPr>
            <a:solidFill>
              <a:schemeClr val="accent2"/>
            </a:solidFill>
            <a:ln>
              <a:noFill/>
            </a:ln>
            <a:effectLst/>
          </c:spPr>
          <c:invertIfNegative val="0"/>
          <c:cat>
            <c:strRef>
              <c:f>Sheet1!$A$2:$A$7</c:f>
              <c:strCache>
                <c:ptCount val="6"/>
                <c:pt idx="0">
                  <c:v>January</c:v>
                </c:pt>
                <c:pt idx="1">
                  <c:v>February</c:v>
                </c:pt>
                <c:pt idx="2">
                  <c:v>March </c:v>
                </c:pt>
                <c:pt idx="3">
                  <c:v>April</c:v>
                </c:pt>
                <c:pt idx="4">
                  <c:v>May</c:v>
                </c:pt>
                <c:pt idx="5">
                  <c:v>June</c:v>
                </c:pt>
              </c:strCache>
            </c:strRef>
          </c:cat>
          <c:val>
            <c:numRef>
              <c:f>Sheet1!$C$2:$C$7</c:f>
              <c:numCache>
                <c:formatCode>General</c:formatCode>
                <c:ptCount val="6"/>
                <c:pt idx="0">
                  <c:v>4.4000000000000004</c:v>
                </c:pt>
                <c:pt idx="1">
                  <c:v>4.4000000000000004</c:v>
                </c:pt>
                <c:pt idx="2">
                  <c:v>1.8</c:v>
                </c:pt>
                <c:pt idx="3">
                  <c:v>4.3</c:v>
                </c:pt>
                <c:pt idx="4">
                  <c:v>2.5</c:v>
                </c:pt>
                <c:pt idx="5">
                  <c:v>4.4000000000000004</c:v>
                </c:pt>
              </c:numCache>
            </c:numRef>
          </c:val>
          <c:extLst>
            <c:ext xmlns:c16="http://schemas.microsoft.com/office/drawing/2014/chart" uri="{C3380CC4-5D6E-409C-BE32-E72D297353CC}">
              <c16:uniqueId val="{00000001-0F2E-4345-A0BA-7640945CEE7C}"/>
            </c:ext>
          </c:extLst>
        </c:ser>
        <c:ser>
          <c:idx val="2"/>
          <c:order val="2"/>
          <c:tx>
            <c:strRef>
              <c:f>Sheet1!$D$1</c:f>
              <c:strCache>
                <c:ptCount val="1"/>
                <c:pt idx="0">
                  <c:v>DOWN JONES</c:v>
                </c:pt>
              </c:strCache>
            </c:strRef>
          </c:tx>
          <c:spPr>
            <a:solidFill>
              <a:schemeClr val="accent3"/>
            </a:solidFill>
            <a:ln>
              <a:noFill/>
            </a:ln>
            <a:effectLst/>
          </c:spPr>
          <c:invertIfNegative val="0"/>
          <c:cat>
            <c:strRef>
              <c:f>Sheet1!$A$2:$A$7</c:f>
              <c:strCache>
                <c:ptCount val="6"/>
                <c:pt idx="0">
                  <c:v>January</c:v>
                </c:pt>
                <c:pt idx="1">
                  <c:v>February</c:v>
                </c:pt>
                <c:pt idx="2">
                  <c:v>March </c:v>
                </c:pt>
                <c:pt idx="3">
                  <c:v>April</c:v>
                </c:pt>
                <c:pt idx="4">
                  <c:v>May</c:v>
                </c:pt>
                <c:pt idx="5">
                  <c:v>June</c:v>
                </c:pt>
              </c:strCache>
            </c:strRef>
          </c:cat>
          <c:val>
            <c:numRef>
              <c:f>Sheet1!$D$2:$D$7</c:f>
              <c:numCache>
                <c:formatCode>General</c:formatCode>
                <c:ptCount val="6"/>
                <c:pt idx="0">
                  <c:v>5</c:v>
                </c:pt>
                <c:pt idx="1">
                  <c:v>2</c:v>
                </c:pt>
                <c:pt idx="2">
                  <c:v>2</c:v>
                </c:pt>
                <c:pt idx="3">
                  <c:v>3</c:v>
                </c:pt>
                <c:pt idx="4">
                  <c:v>5</c:v>
                </c:pt>
                <c:pt idx="5">
                  <c:v>2</c:v>
                </c:pt>
              </c:numCache>
            </c:numRef>
          </c:val>
          <c:extLst>
            <c:ext xmlns:c16="http://schemas.microsoft.com/office/drawing/2014/chart" uri="{C3380CC4-5D6E-409C-BE32-E72D297353CC}">
              <c16:uniqueId val="{00000002-0F2E-4345-A0BA-7640945CEE7C}"/>
            </c:ext>
          </c:extLst>
        </c:ser>
        <c:dLbls>
          <c:showLegendKey val="0"/>
          <c:showVal val="0"/>
          <c:showCatName val="0"/>
          <c:showSerName val="0"/>
          <c:showPercent val="0"/>
          <c:showBubbleSize val="0"/>
        </c:dLbls>
        <c:gapWidth val="500"/>
        <c:overlap val="-15"/>
        <c:axId val="2129750800"/>
        <c:axId val="2129754496"/>
      </c:barChart>
      <c:catAx>
        <c:axId val="212975080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800" b="0" i="0" u="none" strike="noStrike" kern="1200" baseline="0">
                <a:solidFill>
                  <a:schemeClr val="tx1"/>
                </a:solidFill>
                <a:latin typeface="Lato Light" panose="020F0502020204030203" pitchFamily="34" charset="0"/>
                <a:ea typeface="Lato Light" panose="020F0502020204030203" pitchFamily="34" charset="0"/>
                <a:cs typeface="Lato Light" panose="020F0502020204030203" pitchFamily="34" charset="0"/>
              </a:defRPr>
            </a:pPr>
            <a:endParaRPr lang="en-US"/>
          </a:p>
        </c:txPr>
        <c:crossAx val="2129754496"/>
        <c:crosses val="autoZero"/>
        <c:auto val="1"/>
        <c:lblAlgn val="ctr"/>
        <c:lblOffset val="100"/>
        <c:noMultiLvlLbl val="0"/>
      </c:catAx>
      <c:valAx>
        <c:axId val="2129754496"/>
        <c:scaling>
          <c:orientation val="minMax"/>
        </c:scaling>
        <c:delete val="1"/>
        <c:axPos val="l"/>
        <c:numFmt formatCode="General" sourceLinked="1"/>
        <c:majorTickMark val="none"/>
        <c:minorTickMark val="none"/>
        <c:tickLblPos val="nextTo"/>
        <c:crossAx val="2129750800"/>
        <c:crosses val="autoZero"/>
        <c:crossBetween val="between"/>
      </c:valAx>
      <c:spPr>
        <a:noFill/>
        <a:ln w="25400">
          <a:noFill/>
        </a:ln>
        <a:effectLst/>
      </c:spPr>
    </c:plotArea>
    <c:plotVisOnly val="1"/>
    <c:dispBlanksAs val="gap"/>
    <c:showDLblsOverMax val="0"/>
  </c:chart>
  <c:spPr>
    <a:noFill/>
    <a:ln>
      <a:noFill/>
    </a:ln>
    <a:effectLst/>
  </c:spPr>
  <c:txPr>
    <a:bodyPr/>
    <a:lstStyle/>
    <a:p>
      <a:pPr>
        <a:defRPr sz="1800" b="0" i="0">
          <a:solidFill>
            <a:schemeClr val="tx1"/>
          </a:solidFill>
          <a:latin typeface="Lato Light" panose="020F0502020204030203" pitchFamily="34" charset="0"/>
          <a:ea typeface="Lato Light" panose="020F0502020204030203" pitchFamily="34" charset="0"/>
          <a:cs typeface="Lato Light" panose="020F0502020204030203" pitchFamily="34" charset="0"/>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493122536976748"/>
          <c:y val="4.0687398342444704E-2"/>
          <c:w val="0.75140711978779517"/>
          <c:h val="0.81244627654588086"/>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820-5D4D-A3B7-8EE211558C4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820-5D4D-A3B7-8EE211558C4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820-5D4D-A3B7-8EE211558C4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815-8A4D-8972-975C5A0EF09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E815-8A4D-8972-975C5A0EF092}"/>
              </c:ext>
            </c:extLst>
          </c:dPt>
          <c:cat>
            <c:strRef>
              <c:f>Sheet1!$A$2:$A$6</c:f>
              <c:strCache>
                <c:ptCount val="5"/>
                <c:pt idx="0">
                  <c:v>Math</c:v>
                </c:pt>
                <c:pt idx="1">
                  <c:v>Science</c:v>
                </c:pt>
                <c:pt idx="2">
                  <c:v>Grammar</c:v>
                </c:pt>
                <c:pt idx="3">
                  <c:v>History</c:v>
                </c:pt>
                <c:pt idx="4">
                  <c:v>Philosophy</c:v>
                </c:pt>
              </c:strCache>
            </c:strRef>
          </c:cat>
          <c:val>
            <c:numRef>
              <c:f>Sheet1!$B$2:$B$6</c:f>
              <c:numCache>
                <c:formatCode>General</c:formatCode>
                <c:ptCount val="5"/>
                <c:pt idx="0">
                  <c:v>8.1999999999999993</c:v>
                </c:pt>
                <c:pt idx="1">
                  <c:v>3.2</c:v>
                </c:pt>
                <c:pt idx="2">
                  <c:v>1.4</c:v>
                </c:pt>
                <c:pt idx="3">
                  <c:v>4.5999999999999996</c:v>
                </c:pt>
                <c:pt idx="4">
                  <c:v>2.7</c:v>
                </c:pt>
              </c:numCache>
            </c:numRef>
          </c:val>
          <c:extLst>
            <c:ext xmlns:c16="http://schemas.microsoft.com/office/drawing/2014/chart" uri="{C3380CC4-5D6E-409C-BE32-E72D297353CC}">
              <c16:uniqueId val="{00000006-C820-5D4D-A3B7-8EE211558C4A}"/>
            </c:ext>
          </c:extLst>
        </c:ser>
        <c:dLbls>
          <c:showLegendKey val="0"/>
          <c:showVal val="0"/>
          <c:showCatName val="0"/>
          <c:showSerName val="0"/>
          <c:showPercent val="0"/>
          <c:showBubbleSize val="0"/>
          <c:showLeaderLines val="1"/>
        </c:dLbls>
        <c:firstSliceAng val="0"/>
        <c:holeSize val="8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493122536976748"/>
          <c:y val="4.0687398342444704E-2"/>
          <c:w val="0.75140711978779517"/>
          <c:h val="0.81244627654588086"/>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820-5D4D-A3B7-8EE211558C4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820-5D4D-A3B7-8EE211558C4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820-5D4D-A3B7-8EE211558C4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543-4046-96E6-CEA1B0045667}"/>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A543-4046-96E6-CEA1B0045667}"/>
              </c:ext>
            </c:extLst>
          </c:dPt>
          <c:cat>
            <c:strRef>
              <c:f>Sheet1!$A$2:$A$6</c:f>
              <c:strCache>
                <c:ptCount val="5"/>
                <c:pt idx="0">
                  <c:v>Math</c:v>
                </c:pt>
                <c:pt idx="1">
                  <c:v>Science</c:v>
                </c:pt>
                <c:pt idx="2">
                  <c:v>Grammar</c:v>
                </c:pt>
                <c:pt idx="3">
                  <c:v>History</c:v>
                </c:pt>
                <c:pt idx="4">
                  <c:v>Philosophy</c:v>
                </c:pt>
              </c:strCache>
            </c:strRef>
          </c:cat>
          <c:val>
            <c:numRef>
              <c:f>Sheet1!$B$2:$B$6</c:f>
              <c:numCache>
                <c:formatCode>General</c:formatCode>
                <c:ptCount val="5"/>
                <c:pt idx="0">
                  <c:v>8.1999999999999993</c:v>
                </c:pt>
                <c:pt idx="1">
                  <c:v>3.2</c:v>
                </c:pt>
                <c:pt idx="2">
                  <c:v>1.4</c:v>
                </c:pt>
                <c:pt idx="3">
                  <c:v>4.5999999999999996</c:v>
                </c:pt>
                <c:pt idx="4">
                  <c:v>2.7</c:v>
                </c:pt>
              </c:numCache>
            </c:numRef>
          </c:val>
          <c:extLst>
            <c:ext xmlns:c16="http://schemas.microsoft.com/office/drawing/2014/chart" uri="{C3380CC4-5D6E-409C-BE32-E72D297353CC}">
              <c16:uniqueId val="{00000006-C820-5D4D-A3B7-8EE211558C4A}"/>
            </c:ext>
          </c:extLst>
        </c:ser>
        <c:dLbls>
          <c:showLegendKey val="0"/>
          <c:showVal val="0"/>
          <c:showCatName val="0"/>
          <c:showSerName val="0"/>
          <c:showPercent val="0"/>
          <c:showBubbleSize val="0"/>
          <c:showLeaderLines val="1"/>
        </c:dLbls>
        <c:firstSliceAng val="0"/>
        <c:holeSize val="8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lumMod val="20000"/>
                <a:lumOff val="80000"/>
              </a:schemeClr>
            </a:solidFill>
            <a:ln>
              <a:noFill/>
            </a:ln>
            <a:effectLst/>
          </c:spPr>
          <c:invertIfNegative val="0"/>
          <c:dPt>
            <c:idx val="1"/>
            <c:invertIfNegative val="0"/>
            <c:bubble3D val="0"/>
            <c:extLst>
              <c:ext xmlns:c16="http://schemas.microsoft.com/office/drawing/2014/chart" uri="{C3380CC4-5D6E-409C-BE32-E72D297353CC}">
                <c16:uniqueId val="{00000000-B31F-914A-92C5-56413C8A661C}"/>
              </c:ext>
            </c:extLst>
          </c:dPt>
          <c:dPt>
            <c:idx val="2"/>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2-B31F-914A-92C5-56413C8A661C}"/>
              </c:ext>
            </c:extLst>
          </c:dPt>
          <c:dPt>
            <c:idx val="3"/>
            <c:invertIfNegative val="0"/>
            <c:bubble3D val="0"/>
            <c:extLst>
              <c:ext xmlns:c16="http://schemas.microsoft.com/office/drawing/2014/chart" uri="{C3380CC4-5D6E-409C-BE32-E72D297353CC}">
                <c16:uniqueId val="{00000003-B31F-914A-92C5-56413C8A661C}"/>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5-B31F-914A-92C5-56413C8A661C}"/>
              </c:ext>
            </c:extLst>
          </c:dPt>
          <c:cat>
            <c:strRef>
              <c:f>Sheet1!$A$2:$A$10</c:f>
              <c:strCache>
                <c:ptCount val="9"/>
                <c:pt idx="0">
                  <c:v>Jan</c:v>
                </c:pt>
                <c:pt idx="1">
                  <c:v>Feb</c:v>
                </c:pt>
                <c:pt idx="2">
                  <c:v>Mar</c:v>
                </c:pt>
                <c:pt idx="3">
                  <c:v>Apr</c:v>
                </c:pt>
                <c:pt idx="4">
                  <c:v>May</c:v>
                </c:pt>
                <c:pt idx="5">
                  <c:v>Jun</c:v>
                </c:pt>
                <c:pt idx="6">
                  <c:v>Jul</c:v>
                </c:pt>
                <c:pt idx="7">
                  <c:v>Ago</c:v>
                </c:pt>
                <c:pt idx="8">
                  <c:v>Sep</c:v>
                </c:pt>
              </c:strCache>
            </c:strRef>
          </c:cat>
          <c:val>
            <c:numRef>
              <c:f>Sheet1!$B$2:$B$10</c:f>
              <c:numCache>
                <c:formatCode>General</c:formatCode>
                <c:ptCount val="9"/>
                <c:pt idx="0">
                  <c:v>4.3</c:v>
                </c:pt>
                <c:pt idx="1">
                  <c:v>2.5</c:v>
                </c:pt>
                <c:pt idx="2">
                  <c:v>3.5</c:v>
                </c:pt>
                <c:pt idx="3">
                  <c:v>4.5</c:v>
                </c:pt>
                <c:pt idx="4">
                  <c:v>6.4</c:v>
                </c:pt>
                <c:pt idx="5">
                  <c:v>3.6</c:v>
                </c:pt>
                <c:pt idx="6">
                  <c:v>4.7</c:v>
                </c:pt>
                <c:pt idx="7">
                  <c:v>2.1</c:v>
                </c:pt>
                <c:pt idx="8">
                  <c:v>4.8</c:v>
                </c:pt>
              </c:numCache>
            </c:numRef>
          </c:val>
          <c:extLst>
            <c:ext xmlns:c16="http://schemas.microsoft.com/office/drawing/2014/chart" uri="{C3380CC4-5D6E-409C-BE32-E72D297353CC}">
              <c16:uniqueId val="{00000006-B31F-914A-92C5-56413C8A661C}"/>
            </c:ext>
          </c:extLst>
        </c:ser>
        <c:ser>
          <c:idx val="1"/>
          <c:order val="1"/>
          <c:tx>
            <c:strRef>
              <c:f>Sheet1!$C$1</c:f>
              <c:strCache>
                <c:ptCount val="1"/>
                <c:pt idx="0">
                  <c:v>Column1</c:v>
                </c:pt>
              </c:strCache>
            </c:strRef>
          </c:tx>
          <c:spPr>
            <a:solidFill>
              <a:schemeClr val="accent2"/>
            </a:solidFill>
            <a:ln>
              <a:noFill/>
            </a:ln>
            <a:effectLst/>
          </c:spPr>
          <c:invertIfNegative val="0"/>
          <c:cat>
            <c:strRef>
              <c:f>Sheet1!$A$2:$A$10</c:f>
              <c:strCache>
                <c:ptCount val="9"/>
                <c:pt idx="0">
                  <c:v>Jan</c:v>
                </c:pt>
                <c:pt idx="1">
                  <c:v>Feb</c:v>
                </c:pt>
                <c:pt idx="2">
                  <c:v>Mar</c:v>
                </c:pt>
                <c:pt idx="3">
                  <c:v>Apr</c:v>
                </c:pt>
                <c:pt idx="4">
                  <c:v>May</c:v>
                </c:pt>
                <c:pt idx="5">
                  <c:v>Jun</c:v>
                </c:pt>
                <c:pt idx="6">
                  <c:v>Jul</c:v>
                </c:pt>
                <c:pt idx="7">
                  <c:v>Ago</c:v>
                </c:pt>
                <c:pt idx="8">
                  <c:v>Sep</c:v>
                </c:pt>
              </c:strCache>
            </c:strRef>
          </c:cat>
          <c:val>
            <c:numRef>
              <c:f>Sheet1!$C$2:$C$10</c:f>
              <c:numCache>
                <c:formatCode>General</c:formatCode>
                <c:ptCount val="9"/>
              </c:numCache>
            </c:numRef>
          </c:val>
          <c:extLst>
            <c:ext xmlns:c16="http://schemas.microsoft.com/office/drawing/2014/chart" uri="{C3380CC4-5D6E-409C-BE32-E72D297353CC}">
              <c16:uniqueId val="{00000007-B31F-914A-92C5-56413C8A661C}"/>
            </c:ext>
          </c:extLst>
        </c:ser>
        <c:dLbls>
          <c:showLegendKey val="0"/>
          <c:showVal val="0"/>
          <c:showCatName val="0"/>
          <c:showSerName val="0"/>
          <c:showPercent val="0"/>
          <c:showBubbleSize val="0"/>
        </c:dLbls>
        <c:gapWidth val="200"/>
        <c:overlap val="100"/>
        <c:axId val="664310799"/>
        <c:axId val="664312431"/>
      </c:barChart>
      <c:lineChart>
        <c:grouping val="standard"/>
        <c:varyColors val="0"/>
        <c:ser>
          <c:idx val="2"/>
          <c:order val="2"/>
          <c:tx>
            <c:strRef>
              <c:f>Sheet1!$D$1</c:f>
              <c:strCache>
                <c:ptCount val="1"/>
                <c:pt idx="0">
                  <c:v>Series 3</c:v>
                </c:pt>
              </c:strCache>
            </c:strRef>
          </c:tx>
          <c:spPr>
            <a:ln w="63500" cap="rnd">
              <a:solidFill>
                <a:schemeClr val="accent2"/>
              </a:solidFill>
              <a:round/>
            </a:ln>
            <a:effectLst/>
          </c:spPr>
          <c:marker>
            <c:symbol val="circle"/>
            <c:size val="17"/>
            <c:spPr>
              <a:solidFill>
                <a:schemeClr val="accent2"/>
              </a:solidFill>
              <a:ln>
                <a:solidFill>
                  <a:schemeClr val="accent2"/>
                </a:solidFill>
              </a:ln>
              <a:effectLst/>
            </c:spPr>
          </c:marker>
          <c:cat>
            <c:strRef>
              <c:f>Sheet1!$A$2:$A$10</c:f>
              <c:strCache>
                <c:ptCount val="9"/>
                <c:pt idx="0">
                  <c:v>Jan</c:v>
                </c:pt>
                <c:pt idx="1">
                  <c:v>Feb</c:v>
                </c:pt>
                <c:pt idx="2">
                  <c:v>Mar</c:v>
                </c:pt>
                <c:pt idx="3">
                  <c:v>Apr</c:v>
                </c:pt>
                <c:pt idx="4">
                  <c:v>May</c:v>
                </c:pt>
                <c:pt idx="5">
                  <c:v>Jun</c:v>
                </c:pt>
                <c:pt idx="6">
                  <c:v>Jul</c:v>
                </c:pt>
                <c:pt idx="7">
                  <c:v>Ago</c:v>
                </c:pt>
                <c:pt idx="8">
                  <c:v>Sep</c:v>
                </c:pt>
              </c:strCache>
            </c:strRef>
          </c:cat>
          <c:val>
            <c:numRef>
              <c:f>Sheet1!$D$2:$D$10</c:f>
              <c:numCache>
                <c:formatCode>General</c:formatCode>
                <c:ptCount val="9"/>
                <c:pt idx="0">
                  <c:v>2</c:v>
                </c:pt>
                <c:pt idx="1">
                  <c:v>1</c:v>
                </c:pt>
                <c:pt idx="2">
                  <c:v>1.2</c:v>
                </c:pt>
                <c:pt idx="3">
                  <c:v>0.7</c:v>
                </c:pt>
                <c:pt idx="4">
                  <c:v>3</c:v>
                </c:pt>
                <c:pt idx="5">
                  <c:v>1.5</c:v>
                </c:pt>
                <c:pt idx="6">
                  <c:v>1.8</c:v>
                </c:pt>
                <c:pt idx="7">
                  <c:v>0.8</c:v>
                </c:pt>
                <c:pt idx="8">
                  <c:v>1.8</c:v>
                </c:pt>
              </c:numCache>
            </c:numRef>
          </c:val>
          <c:smooth val="0"/>
          <c:extLst>
            <c:ext xmlns:c16="http://schemas.microsoft.com/office/drawing/2014/chart" uri="{C3380CC4-5D6E-409C-BE32-E72D297353CC}">
              <c16:uniqueId val="{00000008-B31F-914A-92C5-56413C8A661C}"/>
            </c:ext>
          </c:extLst>
        </c:ser>
        <c:dLbls>
          <c:showLegendKey val="0"/>
          <c:showVal val="0"/>
          <c:showCatName val="0"/>
          <c:showSerName val="0"/>
          <c:showPercent val="0"/>
          <c:showBubbleSize val="0"/>
        </c:dLbls>
        <c:marker val="1"/>
        <c:smooth val="0"/>
        <c:axId val="1731346512"/>
        <c:axId val="1578921856"/>
      </c:lineChart>
      <c:catAx>
        <c:axId val="66431079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Century Gothic" panose="020B0502020202020204" pitchFamily="34" charset="0"/>
                <a:ea typeface="+mn-ea"/>
                <a:cs typeface="Poppins Light" pitchFamily="2" charset="77"/>
              </a:defRPr>
            </a:pPr>
            <a:endParaRPr lang="en-US"/>
          </a:p>
        </c:txPr>
        <c:crossAx val="664312431"/>
        <c:crosses val="autoZero"/>
        <c:auto val="1"/>
        <c:lblAlgn val="ctr"/>
        <c:lblOffset val="100"/>
        <c:noMultiLvlLbl val="0"/>
      </c:catAx>
      <c:valAx>
        <c:axId val="66431243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Century Gothic" panose="020B0502020202020204" pitchFamily="34" charset="0"/>
                <a:ea typeface="+mn-ea"/>
                <a:cs typeface="Poppins Light" pitchFamily="2" charset="77"/>
              </a:defRPr>
            </a:pPr>
            <a:endParaRPr lang="en-US"/>
          </a:p>
        </c:txPr>
        <c:crossAx val="664310799"/>
        <c:crosses val="autoZero"/>
        <c:crossBetween val="between"/>
      </c:valAx>
      <c:valAx>
        <c:axId val="1578921856"/>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Century Gothic" panose="020B0502020202020204" pitchFamily="34" charset="0"/>
                <a:ea typeface="+mn-ea"/>
                <a:cs typeface="Poppins Light" pitchFamily="2" charset="77"/>
              </a:defRPr>
            </a:pPr>
            <a:endParaRPr lang="en-US"/>
          </a:p>
        </c:txPr>
        <c:crossAx val="1731346512"/>
        <c:crosses val="max"/>
        <c:crossBetween val="between"/>
      </c:valAx>
      <c:catAx>
        <c:axId val="1731346512"/>
        <c:scaling>
          <c:orientation val="minMax"/>
        </c:scaling>
        <c:delete val="1"/>
        <c:axPos val="b"/>
        <c:numFmt formatCode="General" sourceLinked="1"/>
        <c:majorTickMark val="out"/>
        <c:minorTickMark val="none"/>
        <c:tickLblPos val="nextTo"/>
        <c:crossAx val="1578921856"/>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000" b="0" i="0">
          <a:latin typeface="Century Gothic" panose="020B0502020202020204" pitchFamily="34" charset="0"/>
          <a:cs typeface="Poppins Light" pitchFamily="2" charset="77"/>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63500" cap="rnd">
              <a:solidFill>
                <a:schemeClr val="accent1"/>
              </a:solidFill>
              <a:round/>
            </a:ln>
            <a:effectLst/>
          </c:spPr>
          <c:marker>
            <c:symbol val="circle"/>
            <c:size val="20"/>
            <c:spPr>
              <a:solidFill>
                <a:schemeClr val="accent1"/>
              </a:solidFill>
              <a:ln w="9525">
                <a:solidFill>
                  <a:schemeClr val="accent1"/>
                </a:solidFill>
              </a:ln>
              <a:effectLst/>
            </c:spPr>
          </c:marker>
          <c:dLbls>
            <c:dLbl>
              <c:idx val="3"/>
              <c:layout>
                <c:manualLayout>
                  <c:x val="-3.0217275101301011E-2"/>
                  <c:y val="-3.868170775406079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3AC-9947-BA0A-3C7ED5F6866D}"/>
                </c:ext>
              </c:extLst>
            </c:dLbl>
            <c:spPr>
              <a:solidFill>
                <a:schemeClr val="accent2"/>
              </a:solidFill>
              <a:ln>
                <a:noFill/>
              </a:ln>
              <a:effectLst/>
            </c:spPr>
            <c:txPr>
              <a:bodyPr rot="0" spcFirstLastPara="1" vertOverflow="ellipsis" vert="horz" wrap="square" anchor="ctr" anchorCtr="1"/>
              <a:lstStyle/>
              <a:p>
                <a:pPr>
                  <a:defRPr sz="1800" b="0" i="0" u="none" strike="noStrike" kern="1200" baseline="0">
                    <a:solidFill>
                      <a:schemeClr val="bg1"/>
                    </a:solidFill>
                    <a:latin typeface="Century Gothic" panose="020B0502020202020204" pitchFamily="34"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12</c:v>
                </c:pt>
                <c:pt idx="1">
                  <c:v>22</c:v>
                </c:pt>
                <c:pt idx="2">
                  <c:v>54</c:v>
                </c:pt>
                <c:pt idx="3">
                  <c:v>63</c:v>
                </c:pt>
                <c:pt idx="4">
                  <c:v>45</c:v>
                </c:pt>
                <c:pt idx="5">
                  <c:v>25</c:v>
                </c:pt>
                <c:pt idx="6">
                  <c:v>17</c:v>
                </c:pt>
                <c:pt idx="7">
                  <c:v>6</c:v>
                </c:pt>
                <c:pt idx="8">
                  <c:v>2</c:v>
                </c:pt>
                <c:pt idx="9">
                  <c:v>33</c:v>
                </c:pt>
                <c:pt idx="10">
                  <c:v>21</c:v>
                </c:pt>
                <c:pt idx="11">
                  <c:v>45</c:v>
                </c:pt>
              </c:numCache>
            </c:numRef>
          </c:val>
          <c:smooth val="0"/>
          <c:extLst>
            <c:ext xmlns:c16="http://schemas.microsoft.com/office/drawing/2014/chart" uri="{C3380CC4-5D6E-409C-BE32-E72D297353CC}">
              <c16:uniqueId val="{00000000-83AC-9947-BA0A-3C7ED5F6866D}"/>
            </c:ext>
          </c:extLst>
        </c:ser>
        <c:dLbls>
          <c:dLblPos val="ctr"/>
          <c:showLegendKey val="0"/>
          <c:showVal val="1"/>
          <c:showCatName val="0"/>
          <c:showSerName val="0"/>
          <c:showPercent val="0"/>
          <c:showBubbleSize val="0"/>
        </c:dLbls>
        <c:marker val="1"/>
        <c:smooth val="0"/>
        <c:axId val="653524264"/>
        <c:axId val="653520000"/>
      </c:lineChart>
      <c:catAx>
        <c:axId val="653524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653520000"/>
        <c:crosses val="autoZero"/>
        <c:auto val="1"/>
        <c:lblAlgn val="ctr"/>
        <c:lblOffset val="100"/>
        <c:noMultiLvlLbl val="0"/>
      </c:catAx>
      <c:valAx>
        <c:axId val="65352000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653524264"/>
        <c:crosses val="autoZero"/>
        <c:crossBetween val="between"/>
      </c:valAx>
      <c:spPr>
        <a:noFill/>
        <a:ln>
          <a:noFill/>
        </a:ln>
        <a:effectLst/>
      </c:spPr>
    </c:plotArea>
    <c:plotVisOnly val="1"/>
    <c:dispBlanksAs val="gap"/>
    <c:showDLblsOverMax val="0"/>
  </c:chart>
  <c:spPr>
    <a:noFill/>
    <a:ln>
      <a:noFill/>
    </a:ln>
    <a:effectLst/>
  </c:spPr>
  <c:txPr>
    <a:bodyPr/>
    <a:lstStyle/>
    <a:p>
      <a:pPr>
        <a:defRPr sz="1800">
          <a:latin typeface="Century Gothic" panose="020B0502020202020204" pitchFamily="34" charset="0"/>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80193236714976E-2"/>
          <c:y val="0.10882708585247884"/>
          <c:w val="0.44789510006901312"/>
          <c:h val="0.78476420798065294"/>
        </c:manualLayout>
      </c:layout>
      <c:pieChart>
        <c:varyColors val="0"/>
        <c:ser>
          <c:idx val="0"/>
          <c:order val="0"/>
          <c:tx>
            <c:strRef>
              <c:f>Sheet1!$A$2</c:f>
              <c:strCache>
                <c:ptCount val="1"/>
                <c:pt idx="0">
                  <c:v>Region 1</c:v>
                </c:pt>
              </c:strCache>
            </c:strRef>
          </c:tx>
          <c:spPr>
            <a:solidFill>
              <a:schemeClr val="accent1"/>
            </a:solidFill>
            <a:ln w="19050">
              <a:solidFill>
                <a:schemeClr val="lt1"/>
              </a:solidFill>
            </a:ln>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915-D643-ABD5-3A7CED4312A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915-D643-ABD5-3A7CED4312A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8915-D643-ABD5-3A7CED4312AD}"/>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tx1">
                        <a:lumMod val="75000"/>
                        <a:lumOff val="25000"/>
                      </a:schemeClr>
                    </a:solidFill>
                    <a:latin typeface="Century Gothic" panose="020B0502020202020204" pitchFamily="34" charset="0"/>
                    <a:ea typeface="+mn-ea"/>
                    <a:cs typeface="+mn-cs"/>
                  </a:defRPr>
                </a:pPr>
                <a:endParaRPr lang="en-US"/>
              </a:p>
            </c:txPr>
            <c:dLblPos val="outEnd"/>
            <c:showLegendKey val="0"/>
            <c:showVal val="0"/>
            <c:showCatName val="0"/>
            <c:showSerName val="0"/>
            <c:showPercent val="1"/>
            <c:showBubbleSize val="0"/>
            <c:showLeaderLines val="0"/>
            <c:extLst>
              <c:ext xmlns:c15="http://schemas.microsoft.com/office/drawing/2012/chart" uri="{CE6537A1-D6FC-4f65-9D91-7224C49458BB}"/>
            </c:extLst>
          </c:dLbls>
          <c:cat>
            <c:strRef>
              <c:f>Sheet1!$B$1:$D$1</c:f>
              <c:strCache>
                <c:ptCount val="3"/>
                <c:pt idx="0">
                  <c:v>April</c:v>
                </c:pt>
                <c:pt idx="1">
                  <c:v>May</c:v>
                </c:pt>
                <c:pt idx="2">
                  <c:v>June</c:v>
                </c:pt>
              </c:strCache>
            </c:strRef>
          </c:cat>
          <c:val>
            <c:numRef>
              <c:f>Sheet1!$B$2:$D$2</c:f>
              <c:numCache>
                <c:formatCode>General</c:formatCode>
                <c:ptCount val="3"/>
                <c:pt idx="0">
                  <c:v>91</c:v>
                </c:pt>
                <c:pt idx="1">
                  <c:v>76</c:v>
                </c:pt>
                <c:pt idx="2">
                  <c:v>28</c:v>
                </c:pt>
              </c:numCache>
            </c:numRef>
          </c:val>
          <c:extLst>
            <c:ext xmlns:c16="http://schemas.microsoft.com/office/drawing/2014/chart" uri="{C3380CC4-5D6E-409C-BE32-E72D297353CC}">
              <c16:uniqueId val="{00000006-8915-D643-ABD5-3A7CED4312AD}"/>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areaChart>
        <c:grouping val="standard"/>
        <c:varyColors val="0"/>
        <c:ser>
          <c:idx val="0"/>
          <c:order val="0"/>
          <c:tx>
            <c:strRef>
              <c:f>Sheet1!$B$1</c:f>
              <c:strCache>
                <c:ptCount val="1"/>
                <c:pt idx="0">
                  <c:v>Series 1</c:v>
                </c:pt>
              </c:strCache>
            </c:strRef>
          </c:tx>
          <c:spPr>
            <a:solidFill>
              <a:schemeClr val="accent1"/>
            </a:solidFill>
          </c:spPr>
          <c:cat>
            <c:numRef>
              <c:f>Sheet1!$A$2:$A$8</c:f>
              <c:numCache>
                <c:formatCode>General</c:formatCode>
                <c:ptCount val="7"/>
                <c:pt idx="0">
                  <c:v>2012</c:v>
                </c:pt>
                <c:pt idx="1">
                  <c:v>2013</c:v>
                </c:pt>
                <c:pt idx="2">
                  <c:v>2014</c:v>
                </c:pt>
                <c:pt idx="3">
                  <c:v>2015</c:v>
                </c:pt>
                <c:pt idx="4">
                  <c:v>2016</c:v>
                </c:pt>
                <c:pt idx="5">
                  <c:v>2017</c:v>
                </c:pt>
                <c:pt idx="6">
                  <c:v>2018</c:v>
                </c:pt>
              </c:numCache>
            </c:numRef>
          </c:cat>
          <c:val>
            <c:numRef>
              <c:f>Sheet1!$B$2:$B$8</c:f>
              <c:numCache>
                <c:formatCode>General</c:formatCode>
                <c:ptCount val="7"/>
                <c:pt idx="0">
                  <c:v>38</c:v>
                </c:pt>
                <c:pt idx="1">
                  <c:v>32</c:v>
                </c:pt>
                <c:pt idx="2">
                  <c:v>28</c:v>
                </c:pt>
                <c:pt idx="3">
                  <c:v>39</c:v>
                </c:pt>
                <c:pt idx="4">
                  <c:v>33</c:v>
                </c:pt>
                <c:pt idx="5">
                  <c:v>35</c:v>
                </c:pt>
                <c:pt idx="6">
                  <c:v>31</c:v>
                </c:pt>
              </c:numCache>
            </c:numRef>
          </c:val>
          <c:extLst>
            <c:ext xmlns:c16="http://schemas.microsoft.com/office/drawing/2014/chart" uri="{C3380CC4-5D6E-409C-BE32-E72D297353CC}">
              <c16:uniqueId val="{00000000-06DF-7D4A-AAB0-B890B85A57F6}"/>
            </c:ext>
          </c:extLst>
        </c:ser>
        <c:ser>
          <c:idx val="1"/>
          <c:order val="1"/>
          <c:tx>
            <c:strRef>
              <c:f>Sheet1!$C$1</c:f>
              <c:strCache>
                <c:ptCount val="1"/>
                <c:pt idx="0">
                  <c:v>Series 2</c:v>
                </c:pt>
              </c:strCache>
            </c:strRef>
          </c:tx>
          <c:spPr>
            <a:solidFill>
              <a:schemeClr val="accent2"/>
            </a:solidFill>
          </c:spPr>
          <c:cat>
            <c:numRef>
              <c:f>Sheet1!$A$2:$A$8</c:f>
              <c:numCache>
                <c:formatCode>General</c:formatCode>
                <c:ptCount val="7"/>
                <c:pt idx="0">
                  <c:v>2012</c:v>
                </c:pt>
                <c:pt idx="1">
                  <c:v>2013</c:v>
                </c:pt>
                <c:pt idx="2">
                  <c:v>2014</c:v>
                </c:pt>
                <c:pt idx="3">
                  <c:v>2015</c:v>
                </c:pt>
                <c:pt idx="4">
                  <c:v>2016</c:v>
                </c:pt>
                <c:pt idx="5">
                  <c:v>2017</c:v>
                </c:pt>
                <c:pt idx="6">
                  <c:v>2018</c:v>
                </c:pt>
              </c:numCache>
            </c:numRef>
          </c:cat>
          <c:val>
            <c:numRef>
              <c:f>Sheet1!$C$2:$C$8</c:f>
              <c:numCache>
                <c:formatCode>General</c:formatCode>
                <c:ptCount val="7"/>
                <c:pt idx="0">
                  <c:v>27</c:v>
                </c:pt>
                <c:pt idx="1">
                  <c:v>17</c:v>
                </c:pt>
                <c:pt idx="2">
                  <c:v>22</c:v>
                </c:pt>
                <c:pt idx="3">
                  <c:v>18</c:v>
                </c:pt>
                <c:pt idx="4">
                  <c:v>28</c:v>
                </c:pt>
                <c:pt idx="5">
                  <c:v>26</c:v>
                </c:pt>
                <c:pt idx="6">
                  <c:v>28</c:v>
                </c:pt>
              </c:numCache>
            </c:numRef>
          </c:val>
          <c:extLst>
            <c:ext xmlns:c16="http://schemas.microsoft.com/office/drawing/2014/chart" uri="{C3380CC4-5D6E-409C-BE32-E72D297353CC}">
              <c16:uniqueId val="{00000001-06DF-7D4A-AAB0-B890B85A57F6}"/>
            </c:ext>
          </c:extLst>
        </c:ser>
        <c:dLbls>
          <c:showLegendKey val="0"/>
          <c:showVal val="0"/>
          <c:showCatName val="0"/>
          <c:showSerName val="0"/>
          <c:showPercent val="0"/>
          <c:showBubbleSize val="0"/>
        </c:dLbls>
        <c:axId val="420782080"/>
        <c:axId val="420784000"/>
      </c:areaChart>
      <c:catAx>
        <c:axId val="420782080"/>
        <c:scaling>
          <c:orientation val="minMax"/>
        </c:scaling>
        <c:delete val="0"/>
        <c:axPos val="b"/>
        <c:numFmt formatCode="General" sourceLinked="1"/>
        <c:majorTickMark val="out"/>
        <c:minorTickMark val="none"/>
        <c:tickLblPos val="nextTo"/>
        <c:crossAx val="420784000"/>
        <c:crosses val="autoZero"/>
        <c:auto val="1"/>
        <c:lblAlgn val="ctr"/>
        <c:lblOffset val="100"/>
        <c:noMultiLvlLbl val="0"/>
      </c:catAx>
      <c:valAx>
        <c:axId val="420784000"/>
        <c:scaling>
          <c:orientation val="minMax"/>
        </c:scaling>
        <c:delete val="0"/>
        <c:axPos val="l"/>
        <c:numFmt formatCode="General" sourceLinked="1"/>
        <c:majorTickMark val="out"/>
        <c:minorTickMark val="none"/>
        <c:tickLblPos val="nextTo"/>
        <c:spPr>
          <a:ln>
            <a:solidFill>
              <a:schemeClr val="bg1">
                <a:lumMod val="50000"/>
                <a:alpha val="10000"/>
              </a:schemeClr>
            </a:solidFill>
          </a:ln>
        </c:spPr>
        <c:crossAx val="420782080"/>
        <c:crosses val="autoZero"/>
        <c:crossBetween val="midCat"/>
      </c:valAx>
    </c:plotArea>
    <c:plotVisOnly val="1"/>
    <c:dispBlanksAs val="zero"/>
    <c:showDLblsOverMax val="0"/>
  </c:chart>
  <c:txPr>
    <a:bodyPr/>
    <a:lstStyle/>
    <a:p>
      <a:pPr>
        <a:defRPr sz="1600" b="0" i="0">
          <a:latin typeface="Century Gothic" panose="020B0502020202020204" pitchFamily="34" charset="0"/>
          <a:ea typeface="Lato Light" panose="020F0502020204030203" pitchFamily="34" charset="0"/>
          <a:cs typeface="Lato Light" panose="020F0502020204030203" pitchFamily="34" charset="0"/>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88900" cap="rnd">
              <a:solidFill>
                <a:schemeClr val="accent1"/>
              </a:solidFill>
              <a:round/>
            </a:ln>
            <a:effectLst/>
          </c:spPr>
          <c:marker>
            <c:symbol val="none"/>
          </c:marker>
          <c:dLbls>
            <c:delete val="1"/>
          </c:dLbls>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12</c:v>
                </c:pt>
                <c:pt idx="1">
                  <c:v>20</c:v>
                </c:pt>
                <c:pt idx="2">
                  <c:v>36</c:v>
                </c:pt>
                <c:pt idx="3">
                  <c:v>29</c:v>
                </c:pt>
                <c:pt idx="4">
                  <c:v>37</c:v>
                </c:pt>
                <c:pt idx="5">
                  <c:v>49</c:v>
                </c:pt>
                <c:pt idx="6">
                  <c:v>51</c:v>
                </c:pt>
              </c:numCache>
            </c:numRef>
          </c:val>
          <c:smooth val="1"/>
          <c:extLst>
            <c:ext xmlns:c16="http://schemas.microsoft.com/office/drawing/2014/chart" uri="{C3380CC4-5D6E-409C-BE32-E72D297353CC}">
              <c16:uniqueId val="{00000000-16A7-174C-A040-0A70CF69D3F2}"/>
            </c:ext>
          </c:extLst>
        </c:ser>
        <c:dLbls>
          <c:dLblPos val="ctr"/>
          <c:showLegendKey val="0"/>
          <c:showVal val="1"/>
          <c:showCatName val="0"/>
          <c:showSerName val="0"/>
          <c:showPercent val="0"/>
          <c:showBubbleSize val="0"/>
        </c:dLbls>
        <c:smooth val="0"/>
        <c:axId val="653524264"/>
        <c:axId val="653520000"/>
      </c:lineChart>
      <c:catAx>
        <c:axId val="653524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653520000"/>
        <c:crosses val="autoZero"/>
        <c:auto val="1"/>
        <c:lblAlgn val="ctr"/>
        <c:lblOffset val="100"/>
        <c:noMultiLvlLbl val="0"/>
      </c:catAx>
      <c:valAx>
        <c:axId val="65352000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653524264"/>
        <c:crosses val="autoZero"/>
        <c:crossBetween val="between"/>
      </c:valAx>
      <c:spPr>
        <a:noFill/>
        <a:ln>
          <a:noFill/>
        </a:ln>
        <a:effectLst/>
      </c:spPr>
    </c:plotArea>
    <c:plotVisOnly val="1"/>
    <c:dispBlanksAs val="gap"/>
    <c:showDLblsOverMax val="0"/>
  </c:chart>
  <c:spPr>
    <a:noFill/>
    <a:ln>
      <a:noFill/>
    </a:ln>
    <a:effectLst/>
  </c:spPr>
  <c:txPr>
    <a:bodyPr/>
    <a:lstStyle/>
    <a:p>
      <a:pPr>
        <a:defRPr sz="2000">
          <a:latin typeface="Century Gothic" panose="020B0502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withinLinear" id="14">
  <a:schemeClr val="accent1"/>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hart" Target="../charts/chart1.xml"/><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hart" Target="../charts/char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7.xml"/><Relationship Id="rId4" Type="http://schemas.openxmlformats.org/officeDocument/2006/relationships/chart" Target="../charts/char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hart" Target="../charts/char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hart" Target="../charts/chart17.xml"/><Relationship Id="rId4" Type="http://schemas.openxmlformats.org/officeDocument/2006/relationships/chart" Target="../charts/char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hart" Target="../charts/char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hart" Target="../charts/char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hart" Target="../charts/chart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 name="Shape 14"/>
        <p:cNvGrpSpPr/>
        <p:nvPr/>
      </p:nvGrpSpPr>
      <p:grpSpPr>
        <a:xfrm>
          <a:off x="0" y="0"/>
          <a:ext cx="0" cy="0"/>
          <a:chOff x="0" y="0"/>
          <a:chExt cx="0" cy="0"/>
        </a:xfrm>
      </p:grpSpPr>
      <p:sp>
        <p:nvSpPr>
          <p:cNvPr id="15" name="Google Shape;15;p1"/>
          <p:cNvSpPr/>
          <p:nvPr/>
        </p:nvSpPr>
        <p:spPr>
          <a:xfrm>
            <a:off x="2108718" y="4714403"/>
            <a:ext cx="11551730" cy="3342563"/>
          </a:xfrm>
          <a:custGeom>
            <a:rect b="b" l="l" r="r" t="t"/>
            <a:pathLst>
              <a:path extrusionOk="0" h="4886192" w="9895882">
                <a:moveTo>
                  <a:pt x="0" y="1578399"/>
                </a:moveTo>
                <a:lnTo>
                  <a:pt x="2501310" y="697230"/>
                </a:lnTo>
                <a:lnTo>
                  <a:pt x="4936697" y="1885950"/>
                </a:lnTo>
                <a:lnTo>
                  <a:pt x="7393881" y="1417320"/>
                </a:lnTo>
                <a:lnTo>
                  <a:pt x="9881634" y="0"/>
                </a:lnTo>
                <a:cubicBezTo>
                  <a:pt x="9880944" y="232763"/>
                  <a:pt x="9880253" y="465526"/>
                  <a:pt x="9879563" y="698289"/>
                </a:cubicBezTo>
                <a:cubicBezTo>
                  <a:pt x="9885003" y="2094257"/>
                  <a:pt x="9890442" y="3490224"/>
                  <a:pt x="9895882" y="4886192"/>
                </a:cubicBezTo>
                <a:lnTo>
                  <a:pt x="0" y="4886192"/>
                </a:lnTo>
                <a:lnTo>
                  <a:pt x="0" y="1578399"/>
                </a:lnTo>
                <a:close/>
              </a:path>
            </a:pathLst>
          </a:custGeom>
          <a:gradFill>
            <a:gsLst>
              <a:gs pos="0">
                <a:srgbClr val="B5BDF7"/>
              </a:gs>
              <a:gs pos="100000">
                <a:srgbClr val="D9DDFB"/>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1"/>
          <p:cNvSpPr/>
          <p:nvPr/>
        </p:nvSpPr>
        <p:spPr>
          <a:xfrm flipH="1">
            <a:off x="13633455" y="4714403"/>
            <a:ext cx="8649504" cy="3342563"/>
          </a:xfrm>
          <a:custGeom>
            <a:rect b="b" l="l" r="r" t="t"/>
            <a:pathLst>
              <a:path extrusionOk="0" h="4886192" w="7409667">
                <a:moveTo>
                  <a:pt x="0" y="4886192"/>
                </a:moveTo>
                <a:cubicBezTo>
                  <a:pt x="1248" y="3909523"/>
                  <a:pt x="2495" y="2932855"/>
                  <a:pt x="3743" y="1956186"/>
                </a:cubicBezTo>
                <a:lnTo>
                  <a:pt x="2495893" y="759515"/>
                </a:lnTo>
                <a:lnTo>
                  <a:pt x="4923333" y="1216152"/>
                </a:lnTo>
                <a:lnTo>
                  <a:pt x="7395419" y="0"/>
                </a:lnTo>
                <a:cubicBezTo>
                  <a:pt x="7394729" y="232763"/>
                  <a:pt x="7394038" y="465526"/>
                  <a:pt x="7393348" y="698289"/>
                </a:cubicBezTo>
                <a:cubicBezTo>
                  <a:pt x="7398788" y="2094257"/>
                  <a:pt x="7404227" y="3490224"/>
                  <a:pt x="7409667" y="4886192"/>
                </a:cubicBezTo>
                <a:lnTo>
                  <a:pt x="0" y="4886192"/>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17" name="Google Shape;17;p1"/>
          <p:cNvCxnSpPr/>
          <p:nvPr/>
        </p:nvCxnSpPr>
        <p:spPr>
          <a:xfrm rot="10800000">
            <a:off x="13625981" y="3897910"/>
            <a:ext cx="0" cy="4144988"/>
          </a:xfrm>
          <a:prstGeom prst="straightConnector1">
            <a:avLst/>
          </a:prstGeom>
          <a:noFill/>
          <a:ln cap="flat" cmpd="sng" w="50800">
            <a:solidFill>
              <a:schemeClr val="dk2"/>
            </a:solidFill>
            <a:prstDash val="dash"/>
            <a:miter lim="400000"/>
            <a:headEnd len="sm" w="sm" type="none"/>
            <a:tailEnd len="med" w="med" type="triangle"/>
          </a:ln>
        </p:spPr>
      </p:cxnSp>
      <p:grpSp>
        <p:nvGrpSpPr>
          <p:cNvPr id="18" name="Google Shape;18;p1"/>
          <p:cNvGrpSpPr/>
          <p:nvPr/>
        </p:nvGrpSpPr>
        <p:grpSpPr>
          <a:xfrm>
            <a:off x="6287584" y="824518"/>
            <a:ext cx="11802708" cy="2182173"/>
            <a:chOff x="6287584" y="1071658"/>
            <a:chExt cx="11802708" cy="2182173"/>
          </a:xfrm>
        </p:grpSpPr>
        <p:sp>
          <p:nvSpPr>
            <p:cNvPr id="19" name="Google Shape;19;p1"/>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000" u="none" cap="none" strike="noStrike">
                  <a:solidFill>
                    <a:schemeClr val="dk2"/>
                  </a:solidFill>
                  <a:latin typeface="Century Gothic"/>
                  <a:ea typeface="Century Gothic"/>
                  <a:cs typeface="Century Gothic"/>
                  <a:sym typeface="Century Gothic"/>
                </a:rPr>
                <a:t>Business Charts</a:t>
              </a:r>
              <a:endParaRPr/>
            </a:p>
          </p:txBody>
        </p:sp>
        <p:sp>
          <p:nvSpPr>
            <p:cNvPr id="20" name="Google Shape;20;p1"/>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chemeClr val="dk1"/>
                  </a:solidFill>
                  <a:latin typeface="Century Gothic"/>
                  <a:ea typeface="Century Gothic"/>
                  <a:cs typeface="Century Gothic"/>
                  <a:sym typeface="Century Gothic"/>
                </a:rPr>
                <a:t>Is a great way to visualize information about users</a:t>
              </a:r>
              <a:endParaRPr/>
            </a:p>
          </p:txBody>
        </p:sp>
        <p:sp>
          <p:nvSpPr>
            <p:cNvPr id="21" name="Google Shape;21;p1"/>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22" name="Google Shape;22;p1"/>
          <p:cNvSpPr txBox="1"/>
          <p:nvPr/>
        </p:nvSpPr>
        <p:spPr>
          <a:xfrm flipH="1">
            <a:off x="13887406" y="4057826"/>
            <a:ext cx="388157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chemeClr val="dk2"/>
                </a:solidFill>
                <a:latin typeface="Century Gothic"/>
                <a:ea typeface="Century Gothic"/>
                <a:cs typeface="Century Gothic"/>
                <a:sym typeface="Century Gothic"/>
              </a:rPr>
              <a:t>+470 Students</a:t>
            </a:r>
            <a:endParaRPr/>
          </a:p>
        </p:txBody>
      </p:sp>
      <p:sp>
        <p:nvSpPr>
          <p:cNvPr id="23" name="Google Shape;23;p1"/>
          <p:cNvSpPr txBox="1"/>
          <p:nvPr/>
        </p:nvSpPr>
        <p:spPr>
          <a:xfrm>
            <a:off x="951244" y="8214585"/>
            <a:ext cx="243806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Jan</a:t>
            </a:r>
            <a:endParaRPr/>
          </a:p>
        </p:txBody>
      </p:sp>
      <p:sp>
        <p:nvSpPr>
          <p:cNvPr id="24" name="Google Shape;24;p1"/>
          <p:cNvSpPr txBox="1"/>
          <p:nvPr/>
        </p:nvSpPr>
        <p:spPr>
          <a:xfrm>
            <a:off x="3795378" y="8214585"/>
            <a:ext cx="243806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Feb</a:t>
            </a:r>
            <a:endParaRPr/>
          </a:p>
        </p:txBody>
      </p:sp>
      <p:sp>
        <p:nvSpPr>
          <p:cNvPr id="25" name="Google Shape;25;p1"/>
          <p:cNvSpPr txBox="1"/>
          <p:nvPr/>
        </p:nvSpPr>
        <p:spPr>
          <a:xfrm>
            <a:off x="6741367" y="8214585"/>
            <a:ext cx="243806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Mar</a:t>
            </a:r>
            <a:endParaRPr/>
          </a:p>
        </p:txBody>
      </p:sp>
      <p:sp>
        <p:nvSpPr>
          <p:cNvPr id="26" name="Google Shape;26;p1"/>
          <p:cNvSpPr txBox="1"/>
          <p:nvPr/>
        </p:nvSpPr>
        <p:spPr>
          <a:xfrm>
            <a:off x="9571214" y="8214585"/>
            <a:ext cx="243806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Apr</a:t>
            </a:r>
            <a:endParaRPr/>
          </a:p>
        </p:txBody>
      </p:sp>
      <p:sp>
        <p:nvSpPr>
          <p:cNvPr id="27" name="Google Shape;27;p1"/>
          <p:cNvSpPr txBox="1"/>
          <p:nvPr/>
        </p:nvSpPr>
        <p:spPr>
          <a:xfrm>
            <a:off x="12414425" y="8214585"/>
            <a:ext cx="243806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May</a:t>
            </a:r>
            <a:endParaRPr/>
          </a:p>
        </p:txBody>
      </p:sp>
      <p:sp>
        <p:nvSpPr>
          <p:cNvPr id="28" name="Google Shape;28;p1"/>
          <p:cNvSpPr txBox="1"/>
          <p:nvPr/>
        </p:nvSpPr>
        <p:spPr>
          <a:xfrm>
            <a:off x="15330919" y="8214585"/>
            <a:ext cx="243806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Jun</a:t>
            </a:r>
            <a:endParaRPr/>
          </a:p>
        </p:txBody>
      </p:sp>
      <p:sp>
        <p:nvSpPr>
          <p:cNvPr id="29" name="Google Shape;29;p1"/>
          <p:cNvSpPr txBox="1"/>
          <p:nvPr/>
        </p:nvSpPr>
        <p:spPr>
          <a:xfrm>
            <a:off x="18162609" y="8214585"/>
            <a:ext cx="243806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Jul</a:t>
            </a:r>
            <a:endParaRPr/>
          </a:p>
        </p:txBody>
      </p:sp>
      <p:sp>
        <p:nvSpPr>
          <p:cNvPr id="30" name="Google Shape;30;p1"/>
          <p:cNvSpPr txBox="1"/>
          <p:nvPr/>
        </p:nvSpPr>
        <p:spPr>
          <a:xfrm>
            <a:off x="21053294" y="8214585"/>
            <a:ext cx="243806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Aug</a:t>
            </a:r>
            <a:endParaRPr/>
          </a:p>
        </p:txBody>
      </p:sp>
      <p:graphicFrame>
        <p:nvGraphicFramePr>
          <p:cNvPr id="31" name="Google Shape;31;p1"/>
          <p:cNvGraphicFramePr/>
          <p:nvPr/>
        </p:nvGraphicFramePr>
        <p:xfrm>
          <a:off x="1510780" y="9281304"/>
          <a:ext cx="10903645" cy="3225384"/>
        </p:xfrm>
        <a:graphic>
          <a:graphicData uri="http://schemas.openxmlformats.org/drawingml/2006/chart">
            <c:chart r:id="rId3"/>
          </a:graphicData>
        </a:graphic>
      </p:graphicFrame>
      <p:grpSp>
        <p:nvGrpSpPr>
          <p:cNvPr id="32" name="Google Shape;32;p1"/>
          <p:cNvGrpSpPr/>
          <p:nvPr/>
        </p:nvGrpSpPr>
        <p:grpSpPr>
          <a:xfrm>
            <a:off x="13507088" y="9512222"/>
            <a:ext cx="9101452" cy="3017326"/>
            <a:chOff x="1639572" y="10204044"/>
            <a:chExt cx="9101452" cy="3017326"/>
          </a:xfrm>
        </p:grpSpPr>
        <p:sp>
          <p:nvSpPr>
            <p:cNvPr id="33" name="Google Shape;33;p1"/>
            <p:cNvSpPr txBox="1"/>
            <p:nvPr/>
          </p:nvSpPr>
          <p:spPr>
            <a:xfrm>
              <a:off x="1639572" y="11405488"/>
              <a:ext cx="9101452"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There are people who have a significant number of followers in every business domain.</a:t>
              </a:r>
              <a:endParaRPr/>
            </a:p>
          </p:txBody>
        </p:sp>
        <p:sp>
          <p:nvSpPr>
            <p:cNvPr id="34" name="Google Shape;34;p1"/>
            <p:cNvSpPr txBox="1"/>
            <p:nvPr/>
          </p:nvSpPr>
          <p:spPr>
            <a:xfrm>
              <a:off x="1639572" y="10204044"/>
              <a:ext cx="910145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Learn Students</a:t>
              </a:r>
              <a:endParaRPr/>
            </a:p>
          </p:txBody>
        </p:sp>
      </p:grpSp>
      <p:graphicFrame>
        <p:nvGraphicFramePr>
          <p:cNvPr id="35" name="Google Shape;35;p1"/>
          <p:cNvGraphicFramePr/>
          <p:nvPr/>
        </p:nvGraphicFramePr>
        <p:xfrm>
          <a:off x="559709" y="4215108"/>
          <a:ext cx="23258234" cy="3999732"/>
        </p:xfrm>
        <a:graphic>
          <a:graphicData uri="http://schemas.openxmlformats.org/drawingml/2006/chart">
            <c:chart r:id="rId4"/>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grpSp>
        <p:nvGrpSpPr>
          <p:cNvPr id="40" name="Google Shape;40;p2"/>
          <p:cNvGrpSpPr/>
          <p:nvPr/>
        </p:nvGrpSpPr>
        <p:grpSpPr>
          <a:xfrm>
            <a:off x="1348243" y="4203342"/>
            <a:ext cx="21681167" cy="5381837"/>
            <a:chOff x="1348243" y="4085354"/>
            <a:chExt cx="21681167" cy="5890032"/>
          </a:xfrm>
        </p:grpSpPr>
        <p:sp>
          <p:nvSpPr>
            <p:cNvPr id="41" name="Google Shape;41;p2"/>
            <p:cNvSpPr/>
            <p:nvPr/>
          </p:nvSpPr>
          <p:spPr>
            <a:xfrm>
              <a:off x="7851449" y="4085354"/>
              <a:ext cx="3663857" cy="5626830"/>
            </a:xfrm>
            <a:prstGeom prst="roundRect">
              <a:avLst>
                <a:gd fmla="val 16667" name="adj"/>
              </a:avLst>
            </a:prstGeom>
            <a:solidFill>
              <a:schemeClr val="lt1"/>
            </a:solidFill>
            <a:ln cap="flat" cmpd="sng" w="12700">
              <a:solidFill>
                <a:srgbClr val="F0F1FA"/>
              </a:solidFill>
              <a:prstDash val="solid"/>
              <a:miter lim="800000"/>
              <a:headEnd len="sm" w="sm" type="none"/>
              <a:tailEnd len="sm" w="sm" type="none"/>
            </a:ln>
            <a:effectLst>
              <a:outerShdw blurRad="254000" sx="102000" rotWithShape="0" algn="tl" dir="2700000" dist="38100" sy="102000">
                <a:srgbClr val="000000">
                  <a:alpha val="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42" name="Google Shape;42;p2"/>
            <p:cNvGraphicFramePr/>
            <p:nvPr/>
          </p:nvGraphicFramePr>
          <p:xfrm>
            <a:off x="1348243" y="4313758"/>
            <a:ext cx="21681167" cy="5154018"/>
          </p:xfrm>
          <a:graphic>
            <a:graphicData uri="http://schemas.openxmlformats.org/drawingml/2006/chart">
              <c:chart r:id="rId3"/>
            </a:graphicData>
          </a:graphic>
        </p:graphicFrame>
        <p:sp>
          <p:nvSpPr>
            <p:cNvPr id="43" name="Google Shape;43;p2"/>
            <p:cNvSpPr txBox="1"/>
            <p:nvPr/>
          </p:nvSpPr>
          <p:spPr>
            <a:xfrm>
              <a:off x="8464346" y="4606441"/>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2"/>
                  </a:solidFill>
                  <a:latin typeface="Century Gothic"/>
                  <a:ea typeface="Century Gothic"/>
                  <a:cs typeface="Century Gothic"/>
                  <a:sym typeface="Century Gothic"/>
                </a:rPr>
                <a:t>Oct 12</a:t>
              </a:r>
              <a:endParaRPr/>
            </a:p>
          </p:txBody>
        </p:sp>
        <p:sp>
          <p:nvSpPr>
            <p:cNvPr id="44" name="Google Shape;44;p2"/>
            <p:cNvSpPr txBox="1"/>
            <p:nvPr/>
          </p:nvSpPr>
          <p:spPr>
            <a:xfrm>
              <a:off x="8901799" y="7418294"/>
              <a:ext cx="79522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45K</a:t>
              </a:r>
              <a:endParaRPr/>
            </a:p>
          </p:txBody>
        </p:sp>
        <p:sp>
          <p:nvSpPr>
            <p:cNvPr id="45" name="Google Shape;45;p2"/>
            <p:cNvSpPr txBox="1"/>
            <p:nvPr/>
          </p:nvSpPr>
          <p:spPr>
            <a:xfrm>
              <a:off x="9666074" y="6872383"/>
              <a:ext cx="79522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70K</a:t>
              </a:r>
              <a:endParaRPr/>
            </a:p>
          </p:txBody>
        </p:sp>
        <p:sp>
          <p:nvSpPr>
            <p:cNvPr id="46" name="Google Shape;46;p2"/>
            <p:cNvSpPr txBox="1"/>
            <p:nvPr/>
          </p:nvSpPr>
          <p:spPr>
            <a:xfrm>
              <a:off x="3160826" y="9513721"/>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entury Gothic"/>
                  <a:ea typeface="Century Gothic"/>
                  <a:cs typeface="Century Gothic"/>
                  <a:sym typeface="Century Gothic"/>
                </a:rPr>
                <a:t>Sep</a:t>
              </a:r>
              <a:endParaRPr/>
            </a:p>
          </p:txBody>
        </p:sp>
        <p:sp>
          <p:nvSpPr>
            <p:cNvPr id="47" name="Google Shape;47;p2"/>
            <p:cNvSpPr txBox="1"/>
            <p:nvPr/>
          </p:nvSpPr>
          <p:spPr>
            <a:xfrm>
              <a:off x="13798345" y="9513721"/>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entury Gothic"/>
                  <a:ea typeface="Century Gothic"/>
                  <a:cs typeface="Century Gothic"/>
                  <a:sym typeface="Century Gothic"/>
                </a:rPr>
                <a:t>Nov</a:t>
              </a:r>
              <a:endParaRPr/>
            </a:p>
          </p:txBody>
        </p:sp>
        <p:sp>
          <p:nvSpPr>
            <p:cNvPr id="48" name="Google Shape;48;p2"/>
            <p:cNvSpPr txBox="1"/>
            <p:nvPr/>
          </p:nvSpPr>
          <p:spPr>
            <a:xfrm>
              <a:off x="19040906" y="9513721"/>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entury Gothic"/>
                  <a:ea typeface="Century Gothic"/>
                  <a:cs typeface="Century Gothic"/>
                  <a:sym typeface="Century Gothic"/>
                </a:rPr>
                <a:t>Dic</a:t>
              </a:r>
              <a:endParaRPr/>
            </a:p>
          </p:txBody>
        </p:sp>
      </p:grpSp>
      <p:sp>
        <p:nvSpPr>
          <p:cNvPr id="49" name="Google Shape;49;p2"/>
          <p:cNvSpPr/>
          <p:nvPr/>
        </p:nvSpPr>
        <p:spPr>
          <a:xfrm>
            <a:off x="1695084" y="10654751"/>
            <a:ext cx="653142" cy="65314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 name="Google Shape;50;p2"/>
          <p:cNvSpPr/>
          <p:nvPr/>
        </p:nvSpPr>
        <p:spPr>
          <a:xfrm>
            <a:off x="1695084" y="11856425"/>
            <a:ext cx="653142" cy="653142"/>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 name="Google Shape;51;p2"/>
          <p:cNvSpPr txBox="1"/>
          <p:nvPr/>
        </p:nvSpPr>
        <p:spPr>
          <a:xfrm>
            <a:off x="2568191" y="10654751"/>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Math</a:t>
            </a:r>
            <a:endParaRPr/>
          </a:p>
        </p:txBody>
      </p:sp>
      <p:sp>
        <p:nvSpPr>
          <p:cNvPr id="52" name="Google Shape;52;p2"/>
          <p:cNvSpPr txBox="1"/>
          <p:nvPr/>
        </p:nvSpPr>
        <p:spPr>
          <a:xfrm>
            <a:off x="2568191" y="11881972"/>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Science</a:t>
            </a:r>
            <a:endParaRPr/>
          </a:p>
        </p:txBody>
      </p:sp>
      <p:sp>
        <p:nvSpPr>
          <p:cNvPr id="53" name="Google Shape;53;p2"/>
          <p:cNvSpPr/>
          <p:nvPr/>
        </p:nvSpPr>
        <p:spPr>
          <a:xfrm>
            <a:off x="5714463" y="10654751"/>
            <a:ext cx="653142" cy="653142"/>
          </a:xfrm>
          <a:prstGeom prst="ellipse">
            <a:avLst/>
          </a:prstGeom>
          <a:solidFill>
            <a:srgbClr val="F0F1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 name="Google Shape;54;p2"/>
          <p:cNvSpPr/>
          <p:nvPr/>
        </p:nvSpPr>
        <p:spPr>
          <a:xfrm>
            <a:off x="5714463" y="11856425"/>
            <a:ext cx="653142" cy="653142"/>
          </a:xfrm>
          <a:prstGeom prst="ellipse">
            <a:avLst/>
          </a:prstGeom>
          <a:solidFill>
            <a:srgbClr val="F0F1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 name="Google Shape;55;p2"/>
          <p:cNvSpPr txBox="1"/>
          <p:nvPr/>
        </p:nvSpPr>
        <p:spPr>
          <a:xfrm>
            <a:off x="6587570" y="10654751"/>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Grammatic</a:t>
            </a:r>
            <a:endParaRPr/>
          </a:p>
        </p:txBody>
      </p:sp>
      <p:sp>
        <p:nvSpPr>
          <p:cNvPr id="56" name="Google Shape;56;p2"/>
          <p:cNvSpPr txBox="1"/>
          <p:nvPr/>
        </p:nvSpPr>
        <p:spPr>
          <a:xfrm>
            <a:off x="6587570" y="11881972"/>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History</a:t>
            </a:r>
            <a:endParaRPr/>
          </a:p>
        </p:txBody>
      </p:sp>
      <p:sp>
        <p:nvSpPr>
          <p:cNvPr id="57" name="Google Shape;57;p2"/>
          <p:cNvSpPr txBox="1"/>
          <p:nvPr/>
        </p:nvSpPr>
        <p:spPr>
          <a:xfrm>
            <a:off x="12343203" y="10713666"/>
            <a:ext cx="10899304"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Significant number of followers in every business domain. People who have a significant number of followers in every business domain. </a:t>
            </a:r>
            <a:endParaRPr/>
          </a:p>
        </p:txBody>
      </p:sp>
      <p:grpSp>
        <p:nvGrpSpPr>
          <p:cNvPr id="58" name="Google Shape;58;p2"/>
          <p:cNvGrpSpPr/>
          <p:nvPr/>
        </p:nvGrpSpPr>
        <p:grpSpPr>
          <a:xfrm>
            <a:off x="6287584" y="824518"/>
            <a:ext cx="11802708" cy="2182173"/>
            <a:chOff x="6287584" y="1071658"/>
            <a:chExt cx="11802708" cy="2182173"/>
          </a:xfrm>
        </p:grpSpPr>
        <p:sp>
          <p:nvSpPr>
            <p:cNvPr id="59" name="Google Shape;59;p2"/>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60" name="Google Shape;60;p2"/>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61" name="Google Shape;61;p2"/>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grpSp>
        <p:nvGrpSpPr>
          <p:cNvPr id="66" name="Google Shape;66;p3"/>
          <p:cNvGrpSpPr/>
          <p:nvPr/>
        </p:nvGrpSpPr>
        <p:grpSpPr>
          <a:xfrm>
            <a:off x="1986481" y="4787827"/>
            <a:ext cx="20414212" cy="7471356"/>
            <a:chOff x="2217188" y="5175579"/>
            <a:chExt cx="20414212" cy="7471356"/>
          </a:xfrm>
        </p:grpSpPr>
        <p:graphicFrame>
          <p:nvGraphicFramePr>
            <p:cNvPr id="67" name="Google Shape;67;p3"/>
            <p:cNvGraphicFramePr/>
            <p:nvPr/>
          </p:nvGraphicFramePr>
          <p:xfrm>
            <a:off x="2217188" y="5175579"/>
            <a:ext cx="8078278" cy="7471356"/>
          </p:xfrm>
          <a:graphic>
            <a:graphicData uri="http://schemas.openxmlformats.org/drawingml/2006/chart">
              <c:chart r:id="rId3"/>
            </a:graphicData>
          </a:graphic>
        </p:graphicFrame>
        <p:grpSp>
          <p:nvGrpSpPr>
            <p:cNvPr id="68" name="Google Shape;68;p3"/>
            <p:cNvGrpSpPr/>
            <p:nvPr/>
          </p:nvGrpSpPr>
          <p:grpSpPr>
            <a:xfrm>
              <a:off x="11482162" y="5190597"/>
              <a:ext cx="11149238" cy="7093214"/>
              <a:chOff x="11482162" y="4864193"/>
              <a:chExt cx="11149238" cy="7093214"/>
            </a:xfrm>
          </p:grpSpPr>
          <p:grpSp>
            <p:nvGrpSpPr>
              <p:cNvPr id="69" name="Google Shape;69;p3"/>
              <p:cNvGrpSpPr/>
              <p:nvPr/>
            </p:nvGrpSpPr>
            <p:grpSpPr>
              <a:xfrm>
                <a:off x="11482162" y="4864193"/>
                <a:ext cx="11149238" cy="5663383"/>
                <a:chOff x="11482162" y="4864193"/>
                <a:chExt cx="11149238" cy="5663383"/>
              </a:xfrm>
            </p:grpSpPr>
            <p:sp>
              <p:nvSpPr>
                <p:cNvPr id="70" name="Google Shape;70;p3"/>
                <p:cNvSpPr txBox="1"/>
                <p:nvPr/>
              </p:nvSpPr>
              <p:spPr>
                <a:xfrm>
                  <a:off x="11482163" y="6988146"/>
                  <a:ext cx="11149237"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Learning skills in computer science helps students thrive in a rapidly changing world. That's why it's our goal to make sure everyone has access to the collaborative, coding, creativity, and technical skills that can unlock opportunities in the classroom and beyond. Discover a broad selection of apps, activities, lesson plans, digital literacy tools, and games to advance learning in the classroom including virtual field trips, lessons on coding, and more.</a:t>
                  </a:r>
                  <a:endParaRPr sz="2800">
                    <a:solidFill>
                      <a:schemeClr val="dk1"/>
                    </a:solidFill>
                    <a:latin typeface="Century Gothic"/>
                    <a:ea typeface="Century Gothic"/>
                    <a:cs typeface="Century Gothic"/>
                    <a:sym typeface="Century Gothic"/>
                  </a:endParaRPr>
                </a:p>
              </p:txBody>
            </p:sp>
            <p:sp>
              <p:nvSpPr>
                <p:cNvPr id="71" name="Google Shape;71;p3"/>
                <p:cNvSpPr txBox="1"/>
                <p:nvPr/>
              </p:nvSpPr>
              <p:spPr>
                <a:xfrm>
                  <a:off x="11482162" y="4864193"/>
                  <a:ext cx="1114923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dk2"/>
                      </a:solidFill>
                      <a:latin typeface="Century Gothic"/>
                      <a:ea typeface="Century Gothic"/>
                      <a:cs typeface="Century Gothic"/>
                      <a:sym typeface="Century Gothic"/>
                    </a:rPr>
                    <a:t>Students deserve every opportunity to succeed in computer science</a:t>
                  </a:r>
                  <a:endParaRPr/>
                </a:p>
              </p:txBody>
            </p:sp>
          </p:grpSp>
          <p:grpSp>
            <p:nvGrpSpPr>
              <p:cNvPr id="72" name="Google Shape;72;p3"/>
              <p:cNvGrpSpPr/>
              <p:nvPr/>
            </p:nvGrpSpPr>
            <p:grpSpPr>
              <a:xfrm>
                <a:off x="11591427" y="11116532"/>
                <a:ext cx="3506154" cy="840875"/>
                <a:chOff x="1735771" y="11301545"/>
                <a:chExt cx="3506154" cy="840875"/>
              </a:xfrm>
            </p:grpSpPr>
            <p:sp>
              <p:nvSpPr>
                <p:cNvPr id="73" name="Google Shape;73;p3"/>
                <p:cNvSpPr/>
                <p:nvPr/>
              </p:nvSpPr>
              <p:spPr>
                <a:xfrm>
                  <a:off x="1735771" y="11301545"/>
                  <a:ext cx="3506154" cy="840875"/>
                </a:xfrm>
                <a:prstGeom prst="roundRect">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 name="Google Shape;74;p3"/>
                <p:cNvSpPr txBox="1"/>
                <p:nvPr/>
              </p:nvSpPr>
              <p:spPr>
                <a:xfrm>
                  <a:off x="1976204" y="11463675"/>
                  <a:ext cx="3025288"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lt1"/>
                      </a:solidFill>
                      <a:latin typeface="Century Gothic"/>
                      <a:ea typeface="Century Gothic"/>
                      <a:cs typeface="Century Gothic"/>
                      <a:sym typeface="Century Gothic"/>
                    </a:rPr>
                    <a:t>2020</a:t>
                  </a:r>
                  <a:endParaRPr/>
                </a:p>
              </p:txBody>
            </p:sp>
          </p:grpSp>
        </p:grpSp>
      </p:grpSp>
      <p:grpSp>
        <p:nvGrpSpPr>
          <p:cNvPr id="75" name="Google Shape;75;p3"/>
          <p:cNvGrpSpPr/>
          <p:nvPr/>
        </p:nvGrpSpPr>
        <p:grpSpPr>
          <a:xfrm>
            <a:off x="6287584" y="824518"/>
            <a:ext cx="11802708" cy="2182173"/>
            <a:chOff x="6287584" y="1071658"/>
            <a:chExt cx="11802708" cy="2182173"/>
          </a:xfrm>
        </p:grpSpPr>
        <p:sp>
          <p:nvSpPr>
            <p:cNvPr id="76" name="Google Shape;76;p3"/>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77" name="Google Shape;77;p3"/>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78" name="Google Shape;78;p3"/>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grpSp>
        <p:nvGrpSpPr>
          <p:cNvPr id="83" name="Google Shape;83;p4"/>
          <p:cNvGrpSpPr/>
          <p:nvPr/>
        </p:nvGrpSpPr>
        <p:grpSpPr>
          <a:xfrm>
            <a:off x="1946956" y="4241334"/>
            <a:ext cx="20483740" cy="5923032"/>
            <a:chOff x="1951718" y="4437277"/>
            <a:chExt cx="20483740" cy="5923032"/>
          </a:xfrm>
        </p:grpSpPr>
        <p:graphicFrame>
          <p:nvGraphicFramePr>
            <p:cNvPr id="84" name="Google Shape;84;p4"/>
            <p:cNvGraphicFramePr/>
            <p:nvPr/>
          </p:nvGraphicFramePr>
          <p:xfrm>
            <a:off x="1951718" y="4437277"/>
            <a:ext cx="20483740" cy="5923032"/>
          </p:xfrm>
          <a:graphic>
            <a:graphicData uri="http://schemas.openxmlformats.org/drawingml/2006/chart">
              <c:chart r:id="rId3"/>
            </a:graphicData>
          </a:graphic>
        </p:graphicFrame>
        <p:sp>
          <p:nvSpPr>
            <p:cNvPr id="85" name="Google Shape;85;p4"/>
            <p:cNvSpPr txBox="1"/>
            <p:nvPr/>
          </p:nvSpPr>
          <p:spPr>
            <a:xfrm>
              <a:off x="3784208" y="7683926"/>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2"/>
                  </a:solidFill>
                  <a:latin typeface="Century Gothic"/>
                  <a:ea typeface="Century Gothic"/>
                  <a:cs typeface="Century Gothic"/>
                  <a:sym typeface="Century Gothic"/>
                </a:rPr>
                <a:t>Approved 20%</a:t>
              </a:r>
              <a:endParaRPr/>
            </a:p>
          </p:txBody>
        </p:sp>
        <p:sp>
          <p:nvSpPr>
            <p:cNvPr id="86" name="Google Shape;86;p4"/>
            <p:cNvSpPr txBox="1"/>
            <p:nvPr/>
          </p:nvSpPr>
          <p:spPr>
            <a:xfrm>
              <a:off x="8772295" y="6937128"/>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2"/>
                  </a:solidFill>
                  <a:latin typeface="Century Gothic"/>
                  <a:ea typeface="Century Gothic"/>
                  <a:cs typeface="Century Gothic"/>
                  <a:sym typeface="Century Gothic"/>
                </a:rPr>
                <a:t>Approved 40%</a:t>
              </a:r>
              <a:endParaRPr/>
            </a:p>
          </p:txBody>
        </p:sp>
        <p:sp>
          <p:nvSpPr>
            <p:cNvPr id="87" name="Google Shape;87;p4"/>
            <p:cNvSpPr txBox="1"/>
            <p:nvPr/>
          </p:nvSpPr>
          <p:spPr>
            <a:xfrm>
              <a:off x="13605552" y="6153357"/>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2"/>
                  </a:solidFill>
                  <a:latin typeface="Century Gothic"/>
                  <a:ea typeface="Century Gothic"/>
                  <a:cs typeface="Century Gothic"/>
                  <a:sym typeface="Century Gothic"/>
                </a:rPr>
                <a:t>Approved 65%</a:t>
              </a:r>
              <a:endParaRPr/>
            </a:p>
          </p:txBody>
        </p:sp>
        <p:sp>
          <p:nvSpPr>
            <p:cNvPr id="88" name="Google Shape;88;p4"/>
            <p:cNvSpPr txBox="1"/>
            <p:nvPr/>
          </p:nvSpPr>
          <p:spPr>
            <a:xfrm>
              <a:off x="18569438" y="4520500"/>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2"/>
                  </a:solidFill>
                  <a:latin typeface="Century Gothic"/>
                  <a:ea typeface="Century Gothic"/>
                  <a:cs typeface="Century Gothic"/>
                  <a:sym typeface="Century Gothic"/>
                </a:rPr>
                <a:t>Approved 80%</a:t>
              </a:r>
              <a:endParaRPr/>
            </a:p>
          </p:txBody>
        </p:sp>
      </p:grpSp>
      <p:sp>
        <p:nvSpPr>
          <p:cNvPr id="89" name="Google Shape;89;p4"/>
          <p:cNvSpPr txBox="1"/>
          <p:nvPr/>
        </p:nvSpPr>
        <p:spPr>
          <a:xfrm>
            <a:off x="1946956" y="10933603"/>
            <a:ext cx="1114923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dk2"/>
                </a:solidFill>
                <a:latin typeface="Century Gothic"/>
                <a:ea typeface="Century Gothic"/>
                <a:cs typeface="Century Gothic"/>
                <a:sym typeface="Century Gothic"/>
              </a:rPr>
              <a:t>Students deserve every opportunity to succeed in computer science</a:t>
            </a:r>
            <a:endParaRPr/>
          </a:p>
        </p:txBody>
      </p:sp>
      <p:sp>
        <p:nvSpPr>
          <p:cNvPr id="90" name="Google Shape;90;p4"/>
          <p:cNvSpPr txBox="1"/>
          <p:nvPr/>
        </p:nvSpPr>
        <p:spPr>
          <a:xfrm>
            <a:off x="13336042" y="11064231"/>
            <a:ext cx="9003250"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There are people who have a significant number.</a:t>
            </a:r>
            <a:endParaRPr/>
          </a:p>
        </p:txBody>
      </p:sp>
      <p:grpSp>
        <p:nvGrpSpPr>
          <p:cNvPr id="91" name="Google Shape;91;p4"/>
          <p:cNvGrpSpPr/>
          <p:nvPr/>
        </p:nvGrpSpPr>
        <p:grpSpPr>
          <a:xfrm>
            <a:off x="6287584" y="824518"/>
            <a:ext cx="11802708" cy="2182173"/>
            <a:chOff x="6287584" y="1071658"/>
            <a:chExt cx="11802708" cy="2182173"/>
          </a:xfrm>
        </p:grpSpPr>
        <p:sp>
          <p:nvSpPr>
            <p:cNvPr id="92" name="Google Shape;92;p4"/>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93" name="Google Shape;93;p4"/>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94" name="Google Shape;94;p4"/>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graphicFrame>
        <p:nvGraphicFramePr>
          <p:cNvPr id="99" name="Google Shape;99;p5"/>
          <p:cNvGraphicFramePr/>
          <p:nvPr/>
        </p:nvGraphicFramePr>
        <p:xfrm>
          <a:off x="7812181" y="4275599"/>
          <a:ext cx="15381725" cy="7940441"/>
        </p:xfrm>
        <a:graphic>
          <a:graphicData uri="http://schemas.openxmlformats.org/drawingml/2006/chart">
            <c:chart r:id="rId3"/>
          </a:graphicData>
        </a:graphic>
      </p:graphicFrame>
      <p:grpSp>
        <p:nvGrpSpPr>
          <p:cNvPr id="100" name="Google Shape;100;p5"/>
          <p:cNvGrpSpPr/>
          <p:nvPr/>
        </p:nvGrpSpPr>
        <p:grpSpPr>
          <a:xfrm>
            <a:off x="1183746" y="4829892"/>
            <a:ext cx="5483227" cy="3574301"/>
            <a:chOff x="1639572" y="10204044"/>
            <a:chExt cx="5483227" cy="3574301"/>
          </a:xfrm>
        </p:grpSpPr>
        <p:sp>
          <p:nvSpPr>
            <p:cNvPr id="101" name="Google Shape;101;p5"/>
            <p:cNvSpPr txBox="1"/>
            <p:nvPr/>
          </p:nvSpPr>
          <p:spPr>
            <a:xfrm>
              <a:off x="1639572" y="11100688"/>
              <a:ext cx="5483226"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There are people who have a significant number of followers in every business domain.</a:t>
              </a:r>
              <a:endParaRPr/>
            </a:p>
          </p:txBody>
        </p:sp>
        <p:sp>
          <p:nvSpPr>
            <p:cNvPr id="102" name="Google Shape;102;p5"/>
            <p:cNvSpPr txBox="1"/>
            <p:nvPr/>
          </p:nvSpPr>
          <p:spPr>
            <a:xfrm>
              <a:off x="1639573" y="10204044"/>
              <a:ext cx="548322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Education </a:t>
              </a:r>
              <a:endParaRPr/>
            </a:p>
          </p:txBody>
        </p:sp>
      </p:grpSp>
      <p:grpSp>
        <p:nvGrpSpPr>
          <p:cNvPr id="103" name="Google Shape;103;p5"/>
          <p:cNvGrpSpPr/>
          <p:nvPr/>
        </p:nvGrpSpPr>
        <p:grpSpPr>
          <a:xfrm>
            <a:off x="1183746" y="10128278"/>
            <a:ext cx="4746837" cy="1873552"/>
            <a:chOff x="1188507" y="9546387"/>
            <a:chExt cx="4746837" cy="1873552"/>
          </a:xfrm>
        </p:grpSpPr>
        <p:sp>
          <p:nvSpPr>
            <p:cNvPr id="104" name="Google Shape;104;p5"/>
            <p:cNvSpPr/>
            <p:nvPr/>
          </p:nvSpPr>
          <p:spPr>
            <a:xfrm>
              <a:off x="1188507" y="9546387"/>
              <a:ext cx="653142" cy="65314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5"/>
            <p:cNvSpPr/>
            <p:nvPr/>
          </p:nvSpPr>
          <p:spPr>
            <a:xfrm>
              <a:off x="1188507" y="10748061"/>
              <a:ext cx="653142" cy="653142"/>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 name="Google Shape;106;p5"/>
            <p:cNvSpPr txBox="1"/>
            <p:nvPr/>
          </p:nvSpPr>
          <p:spPr>
            <a:xfrm>
              <a:off x="2061614" y="9546387"/>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Classroom 01</a:t>
              </a:r>
              <a:endParaRPr/>
            </a:p>
          </p:txBody>
        </p:sp>
        <p:sp>
          <p:nvSpPr>
            <p:cNvPr id="107" name="Google Shape;107;p5"/>
            <p:cNvSpPr txBox="1"/>
            <p:nvPr/>
          </p:nvSpPr>
          <p:spPr>
            <a:xfrm>
              <a:off x="2061614" y="10773608"/>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Classroom 02</a:t>
              </a:r>
              <a:endParaRPr/>
            </a:p>
          </p:txBody>
        </p:sp>
      </p:grpSp>
      <p:grpSp>
        <p:nvGrpSpPr>
          <p:cNvPr id="108" name="Google Shape;108;p5"/>
          <p:cNvGrpSpPr/>
          <p:nvPr/>
        </p:nvGrpSpPr>
        <p:grpSpPr>
          <a:xfrm>
            <a:off x="6287584" y="824518"/>
            <a:ext cx="11802708" cy="2182173"/>
            <a:chOff x="6287584" y="1071658"/>
            <a:chExt cx="11802708" cy="2182173"/>
          </a:xfrm>
        </p:grpSpPr>
        <p:sp>
          <p:nvSpPr>
            <p:cNvPr id="109" name="Google Shape;109;p5"/>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110" name="Google Shape;110;p5"/>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111" name="Google Shape;111;p5"/>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grpSp>
        <p:nvGrpSpPr>
          <p:cNvPr id="116" name="Google Shape;116;p6"/>
          <p:cNvGrpSpPr/>
          <p:nvPr/>
        </p:nvGrpSpPr>
        <p:grpSpPr>
          <a:xfrm>
            <a:off x="1289052" y="4244033"/>
            <a:ext cx="21799548" cy="7855386"/>
            <a:chOff x="1289052" y="3917462"/>
            <a:chExt cx="21799548" cy="7855386"/>
          </a:xfrm>
        </p:grpSpPr>
        <p:grpSp>
          <p:nvGrpSpPr>
            <p:cNvPr id="117" name="Google Shape;117;p6"/>
            <p:cNvGrpSpPr/>
            <p:nvPr/>
          </p:nvGrpSpPr>
          <p:grpSpPr>
            <a:xfrm>
              <a:off x="1289052" y="3917462"/>
              <a:ext cx="21799548" cy="5685133"/>
              <a:chOff x="2404343" y="4093480"/>
              <a:chExt cx="19568966" cy="7770464"/>
            </a:xfrm>
          </p:grpSpPr>
          <p:graphicFrame>
            <p:nvGraphicFramePr>
              <p:cNvPr id="118" name="Google Shape;118;p6"/>
              <p:cNvGraphicFramePr/>
              <p:nvPr/>
            </p:nvGraphicFramePr>
            <p:xfrm>
              <a:off x="2404343" y="4093480"/>
              <a:ext cx="19568966" cy="7770464"/>
            </p:xfrm>
            <a:graphic>
              <a:graphicData uri="http://schemas.openxmlformats.org/drawingml/2006/chart">
                <c:chart r:id="rId3"/>
              </a:graphicData>
            </a:graphic>
          </p:graphicFrame>
          <p:graphicFrame>
            <p:nvGraphicFramePr>
              <p:cNvPr id="119" name="Google Shape;119;p6"/>
              <p:cNvGraphicFramePr/>
              <p:nvPr/>
            </p:nvGraphicFramePr>
            <p:xfrm>
              <a:off x="2469657" y="5323114"/>
              <a:ext cx="19413302" cy="5767700"/>
            </p:xfrm>
            <a:graphic>
              <a:graphicData uri="http://schemas.openxmlformats.org/drawingml/2006/chart">
                <c:chart r:id="rId4"/>
              </a:graphicData>
            </a:graphic>
          </p:graphicFrame>
        </p:grpSp>
        <p:grpSp>
          <p:nvGrpSpPr>
            <p:cNvPr id="120" name="Google Shape;120;p6"/>
            <p:cNvGrpSpPr/>
            <p:nvPr/>
          </p:nvGrpSpPr>
          <p:grpSpPr>
            <a:xfrm>
              <a:off x="2014424" y="9891652"/>
              <a:ext cx="14843097" cy="1881196"/>
              <a:chOff x="2014424" y="10512135"/>
              <a:chExt cx="14843097" cy="1881196"/>
            </a:xfrm>
          </p:grpSpPr>
          <p:sp>
            <p:nvSpPr>
              <p:cNvPr id="121" name="Google Shape;121;p6"/>
              <p:cNvSpPr/>
              <p:nvPr/>
            </p:nvSpPr>
            <p:spPr>
              <a:xfrm>
                <a:off x="2014424" y="10654522"/>
                <a:ext cx="3525799" cy="494110"/>
              </a:xfrm>
              <a:prstGeom prst="rect">
                <a:avLst/>
              </a:prstGeom>
              <a:noFill/>
              <a:ln>
                <a:noFill/>
              </a:ln>
            </p:spPr>
            <p:txBody>
              <a:bodyPr anchorCtr="0" anchor="ctr" bIns="50800" lIns="50800" spcFirstLastPara="1" rIns="50800" wrap="square" tIns="50800">
                <a:spAutoFit/>
              </a:bodyPr>
              <a:lstStyle/>
              <a:p>
                <a:pPr indent="0" lvl="0" marL="0" marR="0" rtl="0" algn="l">
                  <a:lnSpc>
                    <a:spcPct val="70000"/>
                  </a:lnSpc>
                  <a:spcBef>
                    <a:spcPts val="0"/>
                  </a:spcBef>
                  <a:spcAft>
                    <a:spcPts val="0"/>
                  </a:spcAft>
                  <a:buNone/>
                </a:pPr>
                <a:r>
                  <a:rPr b="1" lang="en-US" sz="3600">
                    <a:solidFill>
                      <a:srgbClr val="3F4347"/>
                    </a:solidFill>
                    <a:latin typeface="Century Gothic"/>
                    <a:ea typeface="Century Gothic"/>
                    <a:cs typeface="Century Gothic"/>
                    <a:sym typeface="Century Gothic"/>
                  </a:rPr>
                  <a:t>Learn</a:t>
                </a:r>
                <a:endParaRPr b="1" sz="3600">
                  <a:solidFill>
                    <a:srgbClr val="3F4347"/>
                  </a:solidFill>
                  <a:latin typeface="Century Gothic"/>
                  <a:ea typeface="Century Gothic"/>
                  <a:cs typeface="Century Gothic"/>
                  <a:sym typeface="Century Gothic"/>
                </a:endParaRPr>
              </a:p>
            </p:txBody>
          </p:sp>
          <p:sp>
            <p:nvSpPr>
              <p:cNvPr id="122" name="Google Shape;122;p6"/>
              <p:cNvSpPr/>
              <p:nvPr/>
            </p:nvSpPr>
            <p:spPr>
              <a:xfrm>
                <a:off x="2014424" y="11275076"/>
                <a:ext cx="3525799" cy="1118255"/>
              </a:xfrm>
              <a:prstGeom prst="rect">
                <a:avLst/>
              </a:prstGeom>
              <a:noFill/>
              <a:ln>
                <a:noFill/>
              </a:ln>
            </p:spPr>
            <p:txBody>
              <a:bodyPr anchorCtr="0" anchor="ctr" bIns="50800" lIns="50800" spcFirstLastPara="1" rIns="50800" wrap="square" tIns="50800">
                <a:spAutoFit/>
              </a:bodyPr>
              <a:lstStyle/>
              <a:p>
                <a:pPr indent="0" lvl="0" marL="0" marR="0" rtl="0" algn="l">
                  <a:spcBef>
                    <a:spcPts val="0"/>
                  </a:spcBef>
                  <a:spcAft>
                    <a:spcPts val="0"/>
                  </a:spcAft>
                  <a:buNone/>
                </a:pPr>
                <a:r>
                  <a:rPr b="1" lang="en-US" sz="6600">
                    <a:solidFill>
                      <a:schemeClr val="accent1"/>
                    </a:solidFill>
                    <a:latin typeface="Century Gothic"/>
                    <a:ea typeface="Century Gothic"/>
                    <a:cs typeface="Century Gothic"/>
                    <a:sym typeface="Century Gothic"/>
                  </a:rPr>
                  <a:t>45%</a:t>
                </a:r>
                <a:endParaRPr b="1" sz="6600">
                  <a:solidFill>
                    <a:schemeClr val="accent1"/>
                  </a:solidFill>
                  <a:latin typeface="Century Gothic"/>
                  <a:ea typeface="Century Gothic"/>
                  <a:cs typeface="Century Gothic"/>
                  <a:sym typeface="Century Gothic"/>
                </a:endParaRPr>
              </a:p>
            </p:txBody>
          </p:sp>
          <p:sp>
            <p:nvSpPr>
              <p:cNvPr id="123" name="Google Shape;123;p6"/>
              <p:cNvSpPr/>
              <p:nvPr/>
            </p:nvSpPr>
            <p:spPr>
              <a:xfrm>
                <a:off x="4883641" y="10654522"/>
                <a:ext cx="3525799" cy="494110"/>
              </a:xfrm>
              <a:prstGeom prst="rect">
                <a:avLst/>
              </a:prstGeom>
              <a:noFill/>
              <a:ln>
                <a:noFill/>
              </a:ln>
            </p:spPr>
            <p:txBody>
              <a:bodyPr anchorCtr="0" anchor="ctr" bIns="50800" lIns="50800" spcFirstLastPara="1" rIns="50800" wrap="square" tIns="50800">
                <a:spAutoFit/>
              </a:bodyPr>
              <a:lstStyle/>
              <a:p>
                <a:pPr indent="0" lvl="0" marL="0" marR="0" rtl="0" algn="l">
                  <a:lnSpc>
                    <a:spcPct val="70000"/>
                  </a:lnSpc>
                  <a:spcBef>
                    <a:spcPts val="0"/>
                  </a:spcBef>
                  <a:spcAft>
                    <a:spcPts val="0"/>
                  </a:spcAft>
                  <a:buNone/>
                </a:pPr>
                <a:r>
                  <a:rPr b="1" lang="en-US" sz="3600">
                    <a:solidFill>
                      <a:srgbClr val="3F4347"/>
                    </a:solidFill>
                    <a:latin typeface="Century Gothic"/>
                    <a:ea typeface="Century Gothic"/>
                    <a:cs typeface="Century Gothic"/>
                    <a:sym typeface="Century Gothic"/>
                  </a:rPr>
                  <a:t>Study</a:t>
                </a:r>
                <a:endParaRPr b="1" sz="3600">
                  <a:solidFill>
                    <a:srgbClr val="3F4347"/>
                  </a:solidFill>
                  <a:latin typeface="Century Gothic"/>
                  <a:ea typeface="Century Gothic"/>
                  <a:cs typeface="Century Gothic"/>
                  <a:sym typeface="Century Gothic"/>
                </a:endParaRPr>
              </a:p>
            </p:txBody>
          </p:sp>
          <p:sp>
            <p:nvSpPr>
              <p:cNvPr id="124" name="Google Shape;124;p6"/>
              <p:cNvSpPr/>
              <p:nvPr/>
            </p:nvSpPr>
            <p:spPr>
              <a:xfrm>
                <a:off x="4883641" y="11275076"/>
                <a:ext cx="3525799" cy="1118255"/>
              </a:xfrm>
              <a:prstGeom prst="rect">
                <a:avLst/>
              </a:prstGeom>
              <a:noFill/>
              <a:ln>
                <a:noFill/>
              </a:ln>
            </p:spPr>
            <p:txBody>
              <a:bodyPr anchorCtr="0" anchor="ctr" bIns="50800" lIns="50800" spcFirstLastPara="1" rIns="50800" wrap="square" tIns="50800">
                <a:spAutoFit/>
              </a:bodyPr>
              <a:lstStyle/>
              <a:p>
                <a:pPr indent="0" lvl="0" marL="0" marR="0" rtl="0" algn="l">
                  <a:spcBef>
                    <a:spcPts val="0"/>
                  </a:spcBef>
                  <a:spcAft>
                    <a:spcPts val="0"/>
                  </a:spcAft>
                  <a:buNone/>
                </a:pPr>
                <a:r>
                  <a:rPr b="1" lang="en-US" sz="6600">
                    <a:solidFill>
                      <a:schemeClr val="accent2"/>
                    </a:solidFill>
                    <a:latin typeface="Century Gothic"/>
                    <a:ea typeface="Century Gothic"/>
                    <a:cs typeface="Century Gothic"/>
                    <a:sym typeface="Century Gothic"/>
                  </a:rPr>
                  <a:t>67%</a:t>
                </a:r>
                <a:endParaRPr b="1" sz="6600">
                  <a:solidFill>
                    <a:schemeClr val="accent2"/>
                  </a:solidFill>
                  <a:latin typeface="Century Gothic"/>
                  <a:ea typeface="Century Gothic"/>
                  <a:cs typeface="Century Gothic"/>
                  <a:sym typeface="Century Gothic"/>
                </a:endParaRPr>
              </a:p>
            </p:txBody>
          </p:sp>
          <p:sp>
            <p:nvSpPr>
              <p:cNvPr id="125" name="Google Shape;125;p6"/>
              <p:cNvSpPr txBox="1"/>
              <p:nvPr/>
            </p:nvSpPr>
            <p:spPr>
              <a:xfrm>
                <a:off x="7854271" y="10512135"/>
                <a:ext cx="9003250"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There are people who have a significant number of followers in every business domain.</a:t>
                </a:r>
                <a:endParaRPr/>
              </a:p>
            </p:txBody>
          </p:sp>
        </p:grpSp>
      </p:grpSp>
      <p:grpSp>
        <p:nvGrpSpPr>
          <p:cNvPr id="126" name="Google Shape;126;p6"/>
          <p:cNvGrpSpPr/>
          <p:nvPr/>
        </p:nvGrpSpPr>
        <p:grpSpPr>
          <a:xfrm>
            <a:off x="6287584" y="824518"/>
            <a:ext cx="11802708" cy="2182173"/>
            <a:chOff x="6287584" y="1071658"/>
            <a:chExt cx="11802708" cy="2182173"/>
          </a:xfrm>
        </p:grpSpPr>
        <p:sp>
          <p:nvSpPr>
            <p:cNvPr id="127" name="Google Shape;127;p6"/>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128" name="Google Shape;128;p6"/>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129" name="Google Shape;129;p6"/>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aphicFrame>
        <p:nvGraphicFramePr>
          <p:cNvPr id="134" name="Google Shape;134;p7"/>
          <p:cNvGraphicFramePr/>
          <p:nvPr/>
        </p:nvGraphicFramePr>
        <p:xfrm>
          <a:off x="1578610" y="4308168"/>
          <a:ext cx="21220430" cy="4933897"/>
        </p:xfrm>
        <a:graphic>
          <a:graphicData uri="http://schemas.openxmlformats.org/drawingml/2006/chart">
            <c:chart r:id="rId3"/>
          </a:graphicData>
        </a:graphic>
      </p:graphicFrame>
      <p:grpSp>
        <p:nvGrpSpPr>
          <p:cNvPr id="135" name="Google Shape;135;p7"/>
          <p:cNvGrpSpPr/>
          <p:nvPr/>
        </p:nvGrpSpPr>
        <p:grpSpPr>
          <a:xfrm>
            <a:off x="1578610" y="9796358"/>
            <a:ext cx="9101451" cy="2622305"/>
            <a:chOff x="1639572" y="10204044"/>
            <a:chExt cx="9101451" cy="2622305"/>
          </a:xfrm>
        </p:grpSpPr>
        <p:sp>
          <p:nvSpPr>
            <p:cNvPr id="136" name="Google Shape;136;p7"/>
            <p:cNvSpPr txBox="1"/>
            <p:nvPr/>
          </p:nvSpPr>
          <p:spPr>
            <a:xfrm>
              <a:off x="1639573" y="11010467"/>
              <a:ext cx="7565390"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There are people who have a significant number of followers.</a:t>
              </a:r>
              <a:endParaRPr/>
            </a:p>
          </p:txBody>
        </p:sp>
        <p:sp>
          <p:nvSpPr>
            <p:cNvPr id="137" name="Google Shape;137;p7"/>
            <p:cNvSpPr txBox="1"/>
            <p:nvPr/>
          </p:nvSpPr>
          <p:spPr>
            <a:xfrm>
              <a:off x="1639572" y="10204044"/>
              <a:ext cx="910145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Learn Students</a:t>
              </a:r>
              <a:endParaRPr/>
            </a:p>
          </p:txBody>
        </p:sp>
      </p:grpSp>
      <p:grpSp>
        <p:nvGrpSpPr>
          <p:cNvPr id="138" name="Google Shape;138;p7"/>
          <p:cNvGrpSpPr/>
          <p:nvPr/>
        </p:nvGrpSpPr>
        <p:grpSpPr>
          <a:xfrm>
            <a:off x="9953897" y="10545111"/>
            <a:ext cx="4746837" cy="1873552"/>
            <a:chOff x="1188507" y="9546387"/>
            <a:chExt cx="4746837" cy="1873552"/>
          </a:xfrm>
        </p:grpSpPr>
        <p:sp>
          <p:nvSpPr>
            <p:cNvPr id="139" name="Google Shape;139;p7"/>
            <p:cNvSpPr/>
            <p:nvPr/>
          </p:nvSpPr>
          <p:spPr>
            <a:xfrm>
              <a:off x="1188507" y="9546387"/>
              <a:ext cx="653142" cy="65314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7"/>
            <p:cNvSpPr/>
            <p:nvPr/>
          </p:nvSpPr>
          <p:spPr>
            <a:xfrm>
              <a:off x="1188507" y="10748061"/>
              <a:ext cx="653142" cy="65314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7"/>
            <p:cNvSpPr txBox="1"/>
            <p:nvPr/>
          </p:nvSpPr>
          <p:spPr>
            <a:xfrm>
              <a:off x="2061614" y="9546387"/>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Classroom 01</a:t>
              </a:r>
              <a:endParaRPr/>
            </a:p>
          </p:txBody>
        </p:sp>
        <p:sp>
          <p:nvSpPr>
            <p:cNvPr id="142" name="Google Shape;142;p7"/>
            <p:cNvSpPr txBox="1"/>
            <p:nvPr/>
          </p:nvSpPr>
          <p:spPr>
            <a:xfrm>
              <a:off x="2061614" y="10773608"/>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Classroom 02</a:t>
              </a:r>
              <a:endParaRPr/>
            </a:p>
          </p:txBody>
        </p:sp>
      </p:grpSp>
      <p:sp>
        <p:nvSpPr>
          <p:cNvPr id="143" name="Google Shape;143;p7"/>
          <p:cNvSpPr/>
          <p:nvPr/>
        </p:nvSpPr>
        <p:spPr>
          <a:xfrm>
            <a:off x="14297297" y="10545111"/>
            <a:ext cx="653142" cy="65314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 name="Google Shape;144;p7"/>
          <p:cNvSpPr/>
          <p:nvPr/>
        </p:nvSpPr>
        <p:spPr>
          <a:xfrm>
            <a:off x="14297297" y="11746785"/>
            <a:ext cx="653142" cy="65314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 name="Google Shape;145;p7"/>
          <p:cNvSpPr txBox="1"/>
          <p:nvPr/>
        </p:nvSpPr>
        <p:spPr>
          <a:xfrm>
            <a:off x="15170405" y="10545111"/>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Classroom 01</a:t>
            </a:r>
            <a:endParaRPr/>
          </a:p>
        </p:txBody>
      </p:sp>
      <p:sp>
        <p:nvSpPr>
          <p:cNvPr id="146" name="Google Shape;146;p7"/>
          <p:cNvSpPr txBox="1"/>
          <p:nvPr/>
        </p:nvSpPr>
        <p:spPr>
          <a:xfrm>
            <a:off x="15170405" y="11772332"/>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Classroom 02</a:t>
            </a:r>
            <a:endParaRPr/>
          </a:p>
        </p:txBody>
      </p:sp>
      <p:sp>
        <p:nvSpPr>
          <p:cNvPr id="147" name="Google Shape;147;p7"/>
          <p:cNvSpPr/>
          <p:nvPr/>
        </p:nvSpPr>
        <p:spPr>
          <a:xfrm>
            <a:off x="18673355" y="10545111"/>
            <a:ext cx="653142" cy="65314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7"/>
          <p:cNvSpPr txBox="1"/>
          <p:nvPr/>
        </p:nvSpPr>
        <p:spPr>
          <a:xfrm>
            <a:off x="19546461" y="10545111"/>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Classroom 01</a:t>
            </a:r>
            <a:endParaRPr/>
          </a:p>
        </p:txBody>
      </p:sp>
      <p:grpSp>
        <p:nvGrpSpPr>
          <p:cNvPr id="149" name="Google Shape;149;p7"/>
          <p:cNvGrpSpPr/>
          <p:nvPr/>
        </p:nvGrpSpPr>
        <p:grpSpPr>
          <a:xfrm>
            <a:off x="6287584" y="824518"/>
            <a:ext cx="11802708" cy="2182173"/>
            <a:chOff x="6287584" y="1071658"/>
            <a:chExt cx="11802708" cy="2182173"/>
          </a:xfrm>
        </p:grpSpPr>
        <p:sp>
          <p:nvSpPr>
            <p:cNvPr id="150" name="Google Shape;150;p7"/>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151" name="Google Shape;151;p7"/>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152" name="Google Shape;152;p7"/>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grpSp>
        <p:nvGrpSpPr>
          <p:cNvPr id="157" name="Google Shape;157;p8"/>
          <p:cNvGrpSpPr/>
          <p:nvPr/>
        </p:nvGrpSpPr>
        <p:grpSpPr>
          <a:xfrm>
            <a:off x="1946956" y="4241334"/>
            <a:ext cx="20483740" cy="5923032"/>
            <a:chOff x="1951718" y="4437277"/>
            <a:chExt cx="20483740" cy="5923032"/>
          </a:xfrm>
        </p:grpSpPr>
        <p:graphicFrame>
          <p:nvGraphicFramePr>
            <p:cNvPr id="158" name="Google Shape;158;p8"/>
            <p:cNvGraphicFramePr/>
            <p:nvPr/>
          </p:nvGraphicFramePr>
          <p:xfrm>
            <a:off x="1951718" y="4437277"/>
            <a:ext cx="20483740" cy="5923032"/>
          </p:xfrm>
          <a:graphic>
            <a:graphicData uri="http://schemas.openxmlformats.org/drawingml/2006/chart">
              <c:chart r:id="rId3"/>
            </a:graphicData>
          </a:graphic>
        </p:graphicFrame>
        <p:sp>
          <p:nvSpPr>
            <p:cNvPr id="159" name="Google Shape;159;p8"/>
            <p:cNvSpPr txBox="1"/>
            <p:nvPr/>
          </p:nvSpPr>
          <p:spPr>
            <a:xfrm>
              <a:off x="3784208" y="7683926"/>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2"/>
                  </a:solidFill>
                  <a:latin typeface="Century Gothic"/>
                  <a:ea typeface="Century Gothic"/>
                  <a:cs typeface="Century Gothic"/>
                  <a:sym typeface="Century Gothic"/>
                </a:rPr>
                <a:t>Approved 20%</a:t>
              </a:r>
              <a:endParaRPr/>
            </a:p>
          </p:txBody>
        </p:sp>
        <p:sp>
          <p:nvSpPr>
            <p:cNvPr id="160" name="Google Shape;160;p8"/>
            <p:cNvSpPr txBox="1"/>
            <p:nvPr/>
          </p:nvSpPr>
          <p:spPr>
            <a:xfrm>
              <a:off x="8772295" y="6937128"/>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2"/>
                  </a:solidFill>
                  <a:latin typeface="Century Gothic"/>
                  <a:ea typeface="Century Gothic"/>
                  <a:cs typeface="Century Gothic"/>
                  <a:sym typeface="Century Gothic"/>
                </a:rPr>
                <a:t>Approved 40%</a:t>
              </a:r>
              <a:endParaRPr/>
            </a:p>
          </p:txBody>
        </p:sp>
        <p:sp>
          <p:nvSpPr>
            <p:cNvPr id="161" name="Google Shape;161;p8"/>
            <p:cNvSpPr txBox="1"/>
            <p:nvPr/>
          </p:nvSpPr>
          <p:spPr>
            <a:xfrm>
              <a:off x="13605552" y="6153357"/>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2"/>
                  </a:solidFill>
                  <a:latin typeface="Century Gothic"/>
                  <a:ea typeface="Century Gothic"/>
                  <a:cs typeface="Century Gothic"/>
                  <a:sym typeface="Century Gothic"/>
                </a:rPr>
                <a:t>Approved 65%</a:t>
              </a:r>
              <a:endParaRPr/>
            </a:p>
          </p:txBody>
        </p:sp>
        <p:sp>
          <p:nvSpPr>
            <p:cNvPr id="162" name="Google Shape;162;p8"/>
            <p:cNvSpPr txBox="1"/>
            <p:nvPr/>
          </p:nvSpPr>
          <p:spPr>
            <a:xfrm>
              <a:off x="18569438" y="4520500"/>
              <a:ext cx="243806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2"/>
                  </a:solidFill>
                  <a:latin typeface="Century Gothic"/>
                  <a:ea typeface="Century Gothic"/>
                  <a:cs typeface="Century Gothic"/>
                  <a:sym typeface="Century Gothic"/>
                </a:rPr>
                <a:t>Approved 80%</a:t>
              </a:r>
              <a:endParaRPr/>
            </a:p>
          </p:txBody>
        </p:sp>
      </p:grpSp>
      <p:sp>
        <p:nvSpPr>
          <p:cNvPr id="163" name="Google Shape;163;p8"/>
          <p:cNvSpPr txBox="1"/>
          <p:nvPr/>
        </p:nvSpPr>
        <p:spPr>
          <a:xfrm>
            <a:off x="1946956" y="10933603"/>
            <a:ext cx="1114923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dk2"/>
                </a:solidFill>
                <a:latin typeface="Century Gothic"/>
                <a:ea typeface="Century Gothic"/>
                <a:cs typeface="Century Gothic"/>
                <a:sym typeface="Century Gothic"/>
              </a:rPr>
              <a:t>Students deserve every opportunity to succeed in computer science</a:t>
            </a:r>
            <a:endParaRPr/>
          </a:p>
        </p:txBody>
      </p:sp>
      <p:sp>
        <p:nvSpPr>
          <p:cNvPr id="164" name="Google Shape;164;p8"/>
          <p:cNvSpPr txBox="1"/>
          <p:nvPr/>
        </p:nvSpPr>
        <p:spPr>
          <a:xfrm>
            <a:off x="13336042" y="11064231"/>
            <a:ext cx="9003250"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There are people who have a significant number.</a:t>
            </a:r>
            <a:endParaRPr/>
          </a:p>
        </p:txBody>
      </p:sp>
      <p:grpSp>
        <p:nvGrpSpPr>
          <p:cNvPr id="165" name="Google Shape;165;p8"/>
          <p:cNvGrpSpPr/>
          <p:nvPr/>
        </p:nvGrpSpPr>
        <p:grpSpPr>
          <a:xfrm>
            <a:off x="6287584" y="824518"/>
            <a:ext cx="11802708" cy="2182173"/>
            <a:chOff x="6287584" y="1071658"/>
            <a:chExt cx="11802708" cy="2182173"/>
          </a:xfrm>
        </p:grpSpPr>
        <p:sp>
          <p:nvSpPr>
            <p:cNvPr id="166" name="Google Shape;166;p8"/>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167" name="Google Shape;167;p8"/>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168" name="Google Shape;168;p8"/>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p:nvPr/>
        </p:nvSpPr>
        <p:spPr>
          <a:xfrm>
            <a:off x="11821885" y="3853543"/>
            <a:ext cx="10822125" cy="7707086"/>
          </a:xfrm>
          <a:prstGeom prst="rect">
            <a:avLst/>
          </a:prstGeom>
          <a:solidFill>
            <a:srgbClr val="F3F4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74" name="Google Shape;174;p9"/>
          <p:cNvGrpSpPr/>
          <p:nvPr/>
        </p:nvGrpSpPr>
        <p:grpSpPr>
          <a:xfrm>
            <a:off x="6287584" y="824518"/>
            <a:ext cx="11802708" cy="2182173"/>
            <a:chOff x="6287584" y="1071658"/>
            <a:chExt cx="11802708" cy="2182173"/>
          </a:xfrm>
        </p:grpSpPr>
        <p:sp>
          <p:nvSpPr>
            <p:cNvPr id="175" name="Google Shape;175;p9"/>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176" name="Google Shape;176;p9"/>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177" name="Google Shape;177;p9"/>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aphicFrame>
        <p:nvGraphicFramePr>
          <p:cNvPr id="178" name="Google Shape;178;p9"/>
          <p:cNvGraphicFramePr/>
          <p:nvPr/>
        </p:nvGraphicFramePr>
        <p:xfrm>
          <a:off x="1733641" y="4091555"/>
          <a:ext cx="20910370" cy="7939759"/>
        </p:xfrm>
        <a:graphic>
          <a:graphicData uri="http://schemas.openxmlformats.org/drawingml/2006/chart">
            <c:chart r:id="rId3"/>
          </a:graphicData>
        </a:graphic>
      </p:graphicFrame>
      <p:grpSp>
        <p:nvGrpSpPr>
          <p:cNvPr id="179" name="Google Shape;179;p9"/>
          <p:cNvGrpSpPr/>
          <p:nvPr/>
        </p:nvGrpSpPr>
        <p:grpSpPr>
          <a:xfrm>
            <a:off x="4286175" y="3853543"/>
            <a:ext cx="5483227" cy="3574301"/>
            <a:chOff x="1639572" y="10204044"/>
            <a:chExt cx="5483227" cy="3574301"/>
          </a:xfrm>
        </p:grpSpPr>
        <p:sp>
          <p:nvSpPr>
            <p:cNvPr id="180" name="Google Shape;180;p9"/>
            <p:cNvSpPr txBox="1"/>
            <p:nvPr/>
          </p:nvSpPr>
          <p:spPr>
            <a:xfrm>
              <a:off x="1639572" y="11100688"/>
              <a:ext cx="5483226"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There are people who have a significant number of followers in every business domain.</a:t>
              </a:r>
              <a:endParaRPr/>
            </a:p>
          </p:txBody>
        </p:sp>
        <p:sp>
          <p:nvSpPr>
            <p:cNvPr id="181" name="Google Shape;181;p9"/>
            <p:cNvSpPr txBox="1"/>
            <p:nvPr/>
          </p:nvSpPr>
          <p:spPr>
            <a:xfrm>
              <a:off x="1639573" y="10204044"/>
              <a:ext cx="548322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Study Semester</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grpSp>
        <p:nvGrpSpPr>
          <p:cNvPr id="186" name="Google Shape;186;p10"/>
          <p:cNvGrpSpPr/>
          <p:nvPr/>
        </p:nvGrpSpPr>
        <p:grpSpPr>
          <a:xfrm>
            <a:off x="6287584" y="824518"/>
            <a:ext cx="11802708" cy="2182173"/>
            <a:chOff x="6287584" y="1071658"/>
            <a:chExt cx="11802708" cy="2182173"/>
          </a:xfrm>
        </p:grpSpPr>
        <p:sp>
          <p:nvSpPr>
            <p:cNvPr id="187" name="Google Shape;187;p10"/>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188" name="Google Shape;188;p10"/>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189" name="Google Shape;189;p10"/>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aphicFrame>
        <p:nvGraphicFramePr>
          <p:cNvPr id="190" name="Google Shape;190;p10"/>
          <p:cNvGraphicFramePr/>
          <p:nvPr/>
        </p:nvGraphicFramePr>
        <p:xfrm>
          <a:off x="1906545" y="4265312"/>
          <a:ext cx="13784559" cy="7938907"/>
        </p:xfrm>
        <a:graphic>
          <a:graphicData uri="http://schemas.openxmlformats.org/drawingml/2006/chart">
            <c:chart r:id="rId3"/>
          </a:graphicData>
        </a:graphic>
      </p:graphicFrame>
      <p:grpSp>
        <p:nvGrpSpPr>
          <p:cNvPr id="191" name="Google Shape;191;p10"/>
          <p:cNvGrpSpPr/>
          <p:nvPr/>
        </p:nvGrpSpPr>
        <p:grpSpPr>
          <a:xfrm>
            <a:off x="16997402" y="4365032"/>
            <a:ext cx="5483227" cy="7766035"/>
            <a:chOff x="15704417" y="4365032"/>
            <a:chExt cx="5483227" cy="7766035"/>
          </a:xfrm>
        </p:grpSpPr>
        <p:grpSp>
          <p:nvGrpSpPr>
            <p:cNvPr id="192" name="Google Shape;192;p10"/>
            <p:cNvGrpSpPr/>
            <p:nvPr/>
          </p:nvGrpSpPr>
          <p:grpSpPr>
            <a:xfrm>
              <a:off x="15704417" y="4365032"/>
              <a:ext cx="5483227" cy="3574301"/>
              <a:chOff x="1639572" y="10204044"/>
              <a:chExt cx="5483227" cy="3574301"/>
            </a:xfrm>
          </p:grpSpPr>
          <p:sp>
            <p:nvSpPr>
              <p:cNvPr id="193" name="Google Shape;193;p10"/>
              <p:cNvSpPr txBox="1"/>
              <p:nvPr/>
            </p:nvSpPr>
            <p:spPr>
              <a:xfrm>
                <a:off x="1639572" y="11100688"/>
                <a:ext cx="5483226"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There are people who have a significant number of followers in every business domain.</a:t>
                </a:r>
                <a:endParaRPr/>
              </a:p>
            </p:txBody>
          </p:sp>
          <p:sp>
            <p:nvSpPr>
              <p:cNvPr id="194" name="Google Shape;194;p10"/>
              <p:cNvSpPr txBox="1"/>
              <p:nvPr/>
            </p:nvSpPr>
            <p:spPr>
              <a:xfrm>
                <a:off x="1639573" y="10204044"/>
                <a:ext cx="548322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Education </a:t>
                </a:r>
                <a:endParaRPr/>
              </a:p>
            </p:txBody>
          </p:sp>
        </p:grpSp>
        <p:grpSp>
          <p:nvGrpSpPr>
            <p:cNvPr id="195" name="Google Shape;195;p10"/>
            <p:cNvGrpSpPr/>
            <p:nvPr/>
          </p:nvGrpSpPr>
          <p:grpSpPr>
            <a:xfrm>
              <a:off x="15704418" y="10257515"/>
              <a:ext cx="4746837" cy="1873552"/>
              <a:chOff x="1188507" y="9546387"/>
              <a:chExt cx="4746837" cy="1873552"/>
            </a:xfrm>
          </p:grpSpPr>
          <p:sp>
            <p:nvSpPr>
              <p:cNvPr id="196" name="Google Shape;196;p10"/>
              <p:cNvSpPr/>
              <p:nvPr/>
            </p:nvSpPr>
            <p:spPr>
              <a:xfrm>
                <a:off x="1188507" y="9546387"/>
                <a:ext cx="653142" cy="65314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10"/>
              <p:cNvSpPr/>
              <p:nvPr/>
            </p:nvSpPr>
            <p:spPr>
              <a:xfrm>
                <a:off x="1188507" y="10748061"/>
                <a:ext cx="653142" cy="653142"/>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10"/>
              <p:cNvSpPr txBox="1"/>
              <p:nvPr/>
            </p:nvSpPr>
            <p:spPr>
              <a:xfrm>
                <a:off x="2061614" y="9546387"/>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Classroom 01</a:t>
                </a:r>
                <a:endParaRPr/>
              </a:p>
            </p:txBody>
          </p:sp>
          <p:sp>
            <p:nvSpPr>
              <p:cNvPr id="199" name="Google Shape;199;p10"/>
              <p:cNvSpPr txBox="1"/>
              <p:nvPr/>
            </p:nvSpPr>
            <p:spPr>
              <a:xfrm>
                <a:off x="2061614" y="10773608"/>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Classroom 02</a:t>
                </a:r>
                <a:endParaRPr/>
              </a:p>
            </p:txBody>
          </p:sp>
        </p:grpSp>
      </p:grpSp>
      <p:grpSp>
        <p:nvGrpSpPr>
          <p:cNvPr id="200" name="Google Shape;200;p10"/>
          <p:cNvGrpSpPr/>
          <p:nvPr/>
        </p:nvGrpSpPr>
        <p:grpSpPr>
          <a:xfrm>
            <a:off x="7072391" y="4914415"/>
            <a:ext cx="3745472" cy="1649514"/>
            <a:chOff x="18139719" y="8369221"/>
            <a:chExt cx="3745472" cy="1649514"/>
          </a:xfrm>
        </p:grpSpPr>
        <p:grpSp>
          <p:nvGrpSpPr>
            <p:cNvPr id="201" name="Google Shape;201;p10"/>
            <p:cNvGrpSpPr/>
            <p:nvPr/>
          </p:nvGrpSpPr>
          <p:grpSpPr>
            <a:xfrm rot="10800000">
              <a:off x="18139719" y="8369221"/>
              <a:ext cx="3745472" cy="1649514"/>
              <a:chOff x="5632676" y="9634807"/>
              <a:chExt cx="3115084" cy="1371891"/>
            </a:xfrm>
          </p:grpSpPr>
          <p:sp>
            <p:nvSpPr>
              <p:cNvPr id="202" name="Google Shape;202;p10"/>
              <p:cNvSpPr/>
              <p:nvPr/>
            </p:nvSpPr>
            <p:spPr>
              <a:xfrm>
                <a:off x="5632676" y="9906001"/>
                <a:ext cx="3115084" cy="1100697"/>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10"/>
              <p:cNvSpPr/>
              <p:nvPr/>
            </p:nvSpPr>
            <p:spPr>
              <a:xfrm>
                <a:off x="6928486" y="9634807"/>
                <a:ext cx="523464" cy="423593"/>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04" name="Google Shape;204;p10"/>
            <p:cNvGrpSpPr/>
            <p:nvPr/>
          </p:nvGrpSpPr>
          <p:grpSpPr>
            <a:xfrm rot="10800000">
              <a:off x="18404938" y="8569275"/>
              <a:ext cx="3168514" cy="923330"/>
              <a:chOff x="10456252" y="8571853"/>
              <a:chExt cx="3168514" cy="923330"/>
            </a:xfrm>
          </p:grpSpPr>
          <p:sp>
            <p:nvSpPr>
              <p:cNvPr id="205" name="Google Shape;205;p10"/>
              <p:cNvSpPr txBox="1"/>
              <p:nvPr/>
            </p:nvSpPr>
            <p:spPr>
              <a:xfrm rot="10800000">
                <a:off x="12462407" y="8811815"/>
                <a:ext cx="116235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lt1"/>
                    </a:solidFill>
                    <a:latin typeface="Century Gothic"/>
                    <a:ea typeface="Century Gothic"/>
                    <a:cs typeface="Century Gothic"/>
                    <a:sym typeface="Century Gothic"/>
                  </a:rPr>
                  <a:t>2.4%</a:t>
                </a:r>
                <a:endParaRPr/>
              </a:p>
            </p:txBody>
          </p:sp>
          <p:sp>
            <p:nvSpPr>
              <p:cNvPr id="206" name="Google Shape;206;p10"/>
              <p:cNvSpPr txBox="1"/>
              <p:nvPr/>
            </p:nvSpPr>
            <p:spPr>
              <a:xfrm rot="10800000">
                <a:off x="10456252" y="8571853"/>
                <a:ext cx="195305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Analysis of different brands and products.</a:t>
                </a:r>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pSp>
        <p:nvGrpSpPr>
          <p:cNvPr id="211" name="Google Shape;211;p11"/>
          <p:cNvGrpSpPr/>
          <p:nvPr/>
        </p:nvGrpSpPr>
        <p:grpSpPr>
          <a:xfrm>
            <a:off x="6287584" y="824518"/>
            <a:ext cx="11802708" cy="2182173"/>
            <a:chOff x="6287584" y="1071658"/>
            <a:chExt cx="11802708" cy="2182173"/>
          </a:xfrm>
        </p:grpSpPr>
        <p:sp>
          <p:nvSpPr>
            <p:cNvPr id="212" name="Google Shape;212;p11"/>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213" name="Google Shape;213;p11"/>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214" name="Google Shape;214;p11"/>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aphicFrame>
        <p:nvGraphicFramePr>
          <p:cNvPr id="215" name="Google Shape;215;p11"/>
          <p:cNvGraphicFramePr/>
          <p:nvPr/>
        </p:nvGraphicFramePr>
        <p:xfrm>
          <a:off x="14699734" y="4770647"/>
          <a:ext cx="8078278" cy="7471356"/>
        </p:xfrm>
        <a:graphic>
          <a:graphicData uri="http://schemas.openxmlformats.org/drawingml/2006/chart">
            <c:chart r:id="rId3"/>
          </a:graphicData>
        </a:graphic>
      </p:graphicFrame>
      <p:sp>
        <p:nvSpPr>
          <p:cNvPr id="216" name="Google Shape;216;p11"/>
          <p:cNvSpPr txBox="1"/>
          <p:nvPr/>
        </p:nvSpPr>
        <p:spPr>
          <a:xfrm>
            <a:off x="17370048" y="5489383"/>
            <a:ext cx="120690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lt1"/>
                </a:solidFill>
                <a:latin typeface="Century Gothic"/>
                <a:ea typeface="Century Gothic"/>
                <a:cs typeface="Century Gothic"/>
                <a:sym typeface="Century Gothic"/>
              </a:rPr>
              <a:t>17</a:t>
            </a:r>
            <a:endParaRPr/>
          </a:p>
        </p:txBody>
      </p:sp>
      <p:sp>
        <p:nvSpPr>
          <p:cNvPr id="217" name="Google Shape;217;p11"/>
          <p:cNvSpPr txBox="1"/>
          <p:nvPr/>
        </p:nvSpPr>
        <p:spPr>
          <a:xfrm>
            <a:off x="20096314" y="9214716"/>
            <a:ext cx="120690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lt1"/>
                </a:solidFill>
                <a:latin typeface="Century Gothic"/>
                <a:ea typeface="Century Gothic"/>
                <a:cs typeface="Century Gothic"/>
                <a:sym typeface="Century Gothic"/>
              </a:rPr>
              <a:t>50</a:t>
            </a:r>
            <a:endParaRPr/>
          </a:p>
        </p:txBody>
      </p:sp>
      <p:sp>
        <p:nvSpPr>
          <p:cNvPr id="218" name="Google Shape;218;p11"/>
          <p:cNvSpPr txBox="1"/>
          <p:nvPr/>
        </p:nvSpPr>
        <p:spPr>
          <a:xfrm>
            <a:off x="15812181" y="7673783"/>
            <a:ext cx="120690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lt1"/>
                </a:solidFill>
                <a:latin typeface="Century Gothic"/>
                <a:ea typeface="Century Gothic"/>
                <a:cs typeface="Century Gothic"/>
                <a:sym typeface="Century Gothic"/>
              </a:rPr>
              <a:t>34</a:t>
            </a:r>
            <a:endParaRPr/>
          </a:p>
        </p:txBody>
      </p:sp>
      <p:sp>
        <p:nvSpPr>
          <p:cNvPr id="219" name="Google Shape;219;p11"/>
          <p:cNvSpPr/>
          <p:nvPr/>
        </p:nvSpPr>
        <p:spPr>
          <a:xfrm>
            <a:off x="1609162" y="4968240"/>
            <a:ext cx="10982028" cy="1981200"/>
          </a:xfrm>
          <a:prstGeom prst="roundRect">
            <a:avLst>
              <a:gd fmla="val 16667" name="adj"/>
            </a:avLst>
          </a:prstGeom>
          <a:solidFill>
            <a:srgbClr val="D9DD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 name="Google Shape;220;p11"/>
          <p:cNvSpPr txBox="1"/>
          <p:nvPr/>
        </p:nvSpPr>
        <p:spPr>
          <a:xfrm>
            <a:off x="6235693" y="5750993"/>
            <a:ext cx="273765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4C4C4C"/>
                </a:solidFill>
                <a:latin typeface="Century Gothic"/>
                <a:ea typeface="Century Gothic"/>
                <a:cs typeface="Century Gothic"/>
                <a:sym typeface="Century Gothic"/>
              </a:rPr>
              <a:t>Classroom 1</a:t>
            </a:r>
            <a:endParaRPr/>
          </a:p>
        </p:txBody>
      </p:sp>
      <p:sp>
        <p:nvSpPr>
          <p:cNvPr id="221" name="Google Shape;221;p11"/>
          <p:cNvSpPr txBox="1"/>
          <p:nvPr/>
        </p:nvSpPr>
        <p:spPr>
          <a:xfrm>
            <a:off x="2031945" y="5689438"/>
            <a:ext cx="32339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John Smith</a:t>
            </a:r>
            <a:endParaRPr/>
          </a:p>
        </p:txBody>
      </p:sp>
      <p:sp>
        <p:nvSpPr>
          <p:cNvPr id="222" name="Google Shape;222;p11"/>
          <p:cNvSpPr txBox="1"/>
          <p:nvPr/>
        </p:nvSpPr>
        <p:spPr>
          <a:xfrm>
            <a:off x="9853537" y="5750993"/>
            <a:ext cx="273765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4C4C4C"/>
                </a:solidFill>
                <a:latin typeface="Century Gothic"/>
                <a:ea typeface="Century Gothic"/>
                <a:cs typeface="Century Gothic"/>
                <a:sym typeface="Century Gothic"/>
              </a:rPr>
              <a:t>34 Students</a:t>
            </a:r>
            <a:endParaRPr/>
          </a:p>
        </p:txBody>
      </p:sp>
      <p:grpSp>
        <p:nvGrpSpPr>
          <p:cNvPr id="223" name="Google Shape;223;p11"/>
          <p:cNvGrpSpPr/>
          <p:nvPr/>
        </p:nvGrpSpPr>
        <p:grpSpPr>
          <a:xfrm>
            <a:off x="2031945" y="7820831"/>
            <a:ext cx="10559245" cy="646331"/>
            <a:chOff x="3751105" y="5236386"/>
            <a:chExt cx="10559245" cy="646331"/>
          </a:xfrm>
        </p:grpSpPr>
        <p:sp>
          <p:nvSpPr>
            <p:cNvPr id="224" name="Google Shape;224;p11"/>
            <p:cNvSpPr txBox="1"/>
            <p:nvPr/>
          </p:nvSpPr>
          <p:spPr>
            <a:xfrm>
              <a:off x="7954853" y="5297941"/>
              <a:ext cx="273765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Classroom 2</a:t>
              </a:r>
              <a:endParaRPr/>
            </a:p>
          </p:txBody>
        </p:sp>
        <p:sp>
          <p:nvSpPr>
            <p:cNvPr id="225" name="Google Shape;225;p11"/>
            <p:cNvSpPr txBox="1"/>
            <p:nvPr/>
          </p:nvSpPr>
          <p:spPr>
            <a:xfrm>
              <a:off x="3751105" y="5236386"/>
              <a:ext cx="32339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Katy Mills</a:t>
              </a:r>
              <a:endParaRPr/>
            </a:p>
          </p:txBody>
        </p:sp>
        <p:sp>
          <p:nvSpPr>
            <p:cNvPr id="226" name="Google Shape;226;p11"/>
            <p:cNvSpPr txBox="1"/>
            <p:nvPr/>
          </p:nvSpPr>
          <p:spPr>
            <a:xfrm>
              <a:off x="11572697" y="5297941"/>
              <a:ext cx="273765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17 Students</a:t>
              </a:r>
              <a:endParaRPr/>
            </a:p>
          </p:txBody>
        </p:sp>
      </p:grpSp>
      <p:grpSp>
        <p:nvGrpSpPr>
          <p:cNvPr id="227" name="Google Shape;227;p11"/>
          <p:cNvGrpSpPr/>
          <p:nvPr/>
        </p:nvGrpSpPr>
        <p:grpSpPr>
          <a:xfrm>
            <a:off x="2031945" y="10007439"/>
            <a:ext cx="10559245" cy="646331"/>
            <a:chOff x="3751105" y="5236386"/>
            <a:chExt cx="10559245" cy="646331"/>
          </a:xfrm>
        </p:grpSpPr>
        <p:sp>
          <p:nvSpPr>
            <p:cNvPr id="228" name="Google Shape;228;p11"/>
            <p:cNvSpPr txBox="1"/>
            <p:nvPr/>
          </p:nvSpPr>
          <p:spPr>
            <a:xfrm>
              <a:off x="7954853" y="5297941"/>
              <a:ext cx="273765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Classroom 3</a:t>
              </a:r>
              <a:endParaRPr/>
            </a:p>
          </p:txBody>
        </p:sp>
        <p:sp>
          <p:nvSpPr>
            <p:cNvPr id="229" name="Google Shape;229;p11"/>
            <p:cNvSpPr txBox="1"/>
            <p:nvPr/>
          </p:nvSpPr>
          <p:spPr>
            <a:xfrm>
              <a:off x="3751105" y="5236386"/>
              <a:ext cx="32339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Tyler Brown</a:t>
              </a:r>
              <a:endParaRPr/>
            </a:p>
          </p:txBody>
        </p:sp>
        <p:sp>
          <p:nvSpPr>
            <p:cNvPr id="230" name="Google Shape;230;p11"/>
            <p:cNvSpPr txBox="1"/>
            <p:nvPr/>
          </p:nvSpPr>
          <p:spPr>
            <a:xfrm>
              <a:off x="11572697" y="5297941"/>
              <a:ext cx="273765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50 Students</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2"/>
          <p:cNvSpPr/>
          <p:nvPr/>
        </p:nvSpPr>
        <p:spPr>
          <a:xfrm>
            <a:off x="2971801" y="8409709"/>
            <a:ext cx="19672211" cy="3338945"/>
          </a:xfrm>
          <a:prstGeom prst="rect">
            <a:avLst/>
          </a:prstGeom>
          <a:solidFill>
            <a:srgbClr val="F3F4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36" name="Google Shape;236;p12"/>
          <p:cNvGrpSpPr/>
          <p:nvPr/>
        </p:nvGrpSpPr>
        <p:grpSpPr>
          <a:xfrm>
            <a:off x="6287584" y="824518"/>
            <a:ext cx="11802708" cy="2182173"/>
            <a:chOff x="6287584" y="1071658"/>
            <a:chExt cx="11802708" cy="2182173"/>
          </a:xfrm>
        </p:grpSpPr>
        <p:sp>
          <p:nvSpPr>
            <p:cNvPr id="237" name="Google Shape;237;p12"/>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238" name="Google Shape;238;p12"/>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239" name="Google Shape;239;p12"/>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aphicFrame>
        <p:nvGraphicFramePr>
          <p:cNvPr id="240" name="Google Shape;240;p12"/>
          <p:cNvGraphicFramePr/>
          <p:nvPr/>
        </p:nvGraphicFramePr>
        <p:xfrm>
          <a:off x="2117362" y="6192500"/>
          <a:ext cx="20152451" cy="6058730"/>
        </p:xfrm>
        <a:graphic>
          <a:graphicData uri="http://schemas.openxmlformats.org/drawingml/2006/chart">
            <c:chart r:id="rId3"/>
          </a:graphicData>
        </a:graphic>
      </p:graphicFrame>
      <p:grpSp>
        <p:nvGrpSpPr>
          <p:cNvPr id="241" name="Google Shape;241;p12"/>
          <p:cNvGrpSpPr/>
          <p:nvPr/>
        </p:nvGrpSpPr>
        <p:grpSpPr>
          <a:xfrm>
            <a:off x="14167817" y="6858000"/>
            <a:ext cx="4785783" cy="665011"/>
            <a:chOff x="14006909" y="6151793"/>
            <a:chExt cx="4785783" cy="665011"/>
          </a:xfrm>
        </p:grpSpPr>
        <p:grpSp>
          <p:nvGrpSpPr>
            <p:cNvPr id="242" name="Google Shape;242;p12"/>
            <p:cNvGrpSpPr/>
            <p:nvPr/>
          </p:nvGrpSpPr>
          <p:grpSpPr>
            <a:xfrm>
              <a:off x="14006909" y="6182272"/>
              <a:ext cx="543885" cy="634532"/>
              <a:chOff x="2477519" y="11183527"/>
              <a:chExt cx="363262" cy="423806"/>
            </a:xfrm>
          </p:grpSpPr>
          <p:sp>
            <p:nvSpPr>
              <p:cNvPr id="243" name="Google Shape;243;p12"/>
              <p:cNvSpPr/>
              <p:nvPr/>
            </p:nvSpPr>
            <p:spPr>
              <a:xfrm>
                <a:off x="2477519" y="11426529"/>
                <a:ext cx="363262" cy="180804"/>
              </a:xfrm>
              <a:custGeom>
                <a:rect b="b" l="l" r="r" t="t"/>
                <a:pathLst>
                  <a:path extrusionOk="0" h="212903" w="427754">
                    <a:moveTo>
                      <a:pt x="395329" y="51276"/>
                    </a:moveTo>
                    <a:cubicBezTo>
                      <a:pt x="286963" y="-17092"/>
                      <a:pt x="140775" y="-17092"/>
                      <a:pt x="32443" y="51276"/>
                    </a:cubicBezTo>
                    <a:cubicBezTo>
                      <a:pt x="12428" y="63877"/>
                      <a:pt x="0" y="86836"/>
                      <a:pt x="0" y="111186"/>
                    </a:cubicBezTo>
                    <a:lnTo>
                      <a:pt x="0" y="212903"/>
                    </a:lnTo>
                    <a:lnTo>
                      <a:pt x="427755" y="212903"/>
                    </a:lnTo>
                    <a:lnTo>
                      <a:pt x="427755" y="111186"/>
                    </a:lnTo>
                    <a:cubicBezTo>
                      <a:pt x="427755" y="86836"/>
                      <a:pt x="415327" y="63877"/>
                      <a:pt x="395329" y="51276"/>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2"/>
              <p:cNvSpPr/>
              <p:nvPr/>
            </p:nvSpPr>
            <p:spPr>
              <a:xfrm>
                <a:off x="2553199" y="11183527"/>
                <a:ext cx="211903" cy="211903"/>
              </a:xfrm>
              <a:custGeom>
                <a:rect b="b" l="l" r="r" t="t"/>
                <a:pathLst>
                  <a:path extrusionOk="0" h="249524" w="249524">
                    <a:moveTo>
                      <a:pt x="212982" y="36542"/>
                    </a:moveTo>
                    <a:cubicBezTo>
                      <a:pt x="261705" y="85265"/>
                      <a:pt x="261705" y="164259"/>
                      <a:pt x="212982" y="212982"/>
                    </a:cubicBezTo>
                    <a:cubicBezTo>
                      <a:pt x="164259" y="261705"/>
                      <a:pt x="85265" y="261705"/>
                      <a:pt x="36542" y="212982"/>
                    </a:cubicBezTo>
                    <a:cubicBezTo>
                      <a:pt x="-12181" y="164259"/>
                      <a:pt x="-12181" y="85265"/>
                      <a:pt x="36542" y="36542"/>
                    </a:cubicBezTo>
                    <a:cubicBezTo>
                      <a:pt x="85265" y="-12181"/>
                      <a:pt x="164259" y="-12180"/>
                      <a:pt x="212982" y="36542"/>
                    </a:cubicBezTo>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5" name="Google Shape;245;p12"/>
            <p:cNvSpPr txBox="1"/>
            <p:nvPr/>
          </p:nvSpPr>
          <p:spPr>
            <a:xfrm>
              <a:off x="14918963" y="6151793"/>
              <a:ext cx="387373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Math Class</a:t>
              </a:r>
              <a:endParaRPr/>
            </a:p>
          </p:txBody>
        </p:sp>
      </p:grpSp>
      <p:sp>
        <p:nvSpPr>
          <p:cNvPr id="246" name="Google Shape;246;p12"/>
          <p:cNvSpPr txBox="1"/>
          <p:nvPr/>
        </p:nvSpPr>
        <p:spPr>
          <a:xfrm>
            <a:off x="2117362" y="4179988"/>
            <a:ext cx="1114923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dk2"/>
                </a:solidFill>
                <a:latin typeface="Century Gothic"/>
                <a:ea typeface="Century Gothic"/>
                <a:cs typeface="Century Gothic"/>
                <a:sym typeface="Century Gothic"/>
              </a:rPr>
              <a:t>Students deserve every opportunity to succeed.</a:t>
            </a:r>
            <a:endParaRPr/>
          </a:p>
        </p:txBody>
      </p:sp>
      <p:sp>
        <p:nvSpPr>
          <p:cNvPr id="247" name="Google Shape;247;p12"/>
          <p:cNvSpPr txBox="1"/>
          <p:nvPr/>
        </p:nvSpPr>
        <p:spPr>
          <a:xfrm>
            <a:off x="14159581" y="4310616"/>
            <a:ext cx="9003250"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There are people who have a significant number.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grpSp>
        <p:nvGrpSpPr>
          <p:cNvPr id="252" name="Google Shape;252;p13"/>
          <p:cNvGrpSpPr/>
          <p:nvPr/>
        </p:nvGrpSpPr>
        <p:grpSpPr>
          <a:xfrm>
            <a:off x="6287584" y="824518"/>
            <a:ext cx="11802708" cy="2182173"/>
            <a:chOff x="6287584" y="1071658"/>
            <a:chExt cx="11802708" cy="2182173"/>
          </a:xfrm>
        </p:grpSpPr>
        <p:sp>
          <p:nvSpPr>
            <p:cNvPr id="253" name="Google Shape;253;p13"/>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254" name="Google Shape;254;p13"/>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255" name="Google Shape;255;p13"/>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aphicFrame>
        <p:nvGraphicFramePr>
          <p:cNvPr id="256" name="Google Shape;256;p13"/>
          <p:cNvGraphicFramePr/>
          <p:nvPr/>
        </p:nvGraphicFramePr>
        <p:xfrm>
          <a:off x="12193586" y="4609801"/>
          <a:ext cx="10076225" cy="7641429"/>
        </p:xfrm>
        <a:graphic>
          <a:graphicData uri="http://schemas.openxmlformats.org/drawingml/2006/chart">
            <c:chart r:id="rId3"/>
          </a:graphicData>
        </a:graphic>
      </p:graphicFrame>
      <p:grpSp>
        <p:nvGrpSpPr>
          <p:cNvPr id="257" name="Google Shape;257;p13"/>
          <p:cNvGrpSpPr/>
          <p:nvPr/>
        </p:nvGrpSpPr>
        <p:grpSpPr>
          <a:xfrm>
            <a:off x="2333716" y="4485195"/>
            <a:ext cx="8321032" cy="2712526"/>
            <a:chOff x="1639572" y="10204044"/>
            <a:chExt cx="8321032" cy="2712526"/>
          </a:xfrm>
        </p:grpSpPr>
        <p:sp>
          <p:nvSpPr>
            <p:cNvPr id="258" name="Google Shape;258;p13"/>
            <p:cNvSpPr txBox="1"/>
            <p:nvPr/>
          </p:nvSpPr>
          <p:spPr>
            <a:xfrm>
              <a:off x="1639572" y="11100688"/>
              <a:ext cx="8321032"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There are people who have a significant number of followers in every business domain.</a:t>
              </a:r>
              <a:endParaRPr/>
            </a:p>
          </p:txBody>
        </p:sp>
        <p:sp>
          <p:nvSpPr>
            <p:cNvPr id="259" name="Google Shape;259;p13"/>
            <p:cNvSpPr txBox="1"/>
            <p:nvPr/>
          </p:nvSpPr>
          <p:spPr>
            <a:xfrm>
              <a:off x="1639573" y="10204044"/>
              <a:ext cx="548322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Semester Goals</a:t>
              </a:r>
              <a:endParaRPr/>
            </a:p>
          </p:txBody>
        </p:sp>
      </p:grpSp>
      <p:sp>
        <p:nvSpPr>
          <p:cNvPr id="260" name="Google Shape;260;p13"/>
          <p:cNvSpPr/>
          <p:nvPr/>
        </p:nvSpPr>
        <p:spPr>
          <a:xfrm>
            <a:off x="2333716" y="7763412"/>
            <a:ext cx="7974066" cy="1815882"/>
          </a:xfrm>
          <a:prstGeom prst="roundRect">
            <a:avLst>
              <a:gd fmla="val 16667" name="adj"/>
            </a:avLst>
          </a:prstGeom>
          <a:solidFill>
            <a:schemeClr val="lt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 name="Google Shape;261;p13"/>
          <p:cNvSpPr/>
          <p:nvPr/>
        </p:nvSpPr>
        <p:spPr>
          <a:xfrm>
            <a:off x="2333716" y="10372663"/>
            <a:ext cx="7974066" cy="1815882"/>
          </a:xfrm>
          <a:prstGeom prst="roundRect">
            <a:avLst>
              <a:gd fmla="val 16667" name="adj"/>
            </a:avLst>
          </a:prstGeom>
          <a:solidFill>
            <a:schemeClr val="lt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 name="Google Shape;262;p13"/>
          <p:cNvSpPr/>
          <p:nvPr/>
        </p:nvSpPr>
        <p:spPr>
          <a:xfrm>
            <a:off x="2943102" y="8528371"/>
            <a:ext cx="326570" cy="281526"/>
          </a:xfrm>
          <a:prstGeom prst="triangl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 name="Google Shape;263;p13"/>
          <p:cNvSpPr/>
          <p:nvPr/>
        </p:nvSpPr>
        <p:spPr>
          <a:xfrm rot="10800000">
            <a:off x="2943102" y="11139841"/>
            <a:ext cx="326570" cy="281526"/>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 name="Google Shape;264;p13"/>
          <p:cNvSpPr txBox="1"/>
          <p:nvPr/>
        </p:nvSpPr>
        <p:spPr>
          <a:xfrm>
            <a:off x="5576632" y="8390898"/>
            <a:ext cx="14198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+4.7%</a:t>
            </a:r>
            <a:endParaRPr/>
          </a:p>
        </p:txBody>
      </p:sp>
      <p:sp>
        <p:nvSpPr>
          <p:cNvPr id="265" name="Google Shape;265;p13"/>
          <p:cNvSpPr txBox="1"/>
          <p:nvPr/>
        </p:nvSpPr>
        <p:spPr>
          <a:xfrm>
            <a:off x="3751597" y="8329343"/>
            <a:ext cx="177951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Learn </a:t>
            </a:r>
            <a:endParaRPr/>
          </a:p>
        </p:txBody>
      </p:sp>
      <p:sp>
        <p:nvSpPr>
          <p:cNvPr id="266" name="Google Shape;266;p13"/>
          <p:cNvSpPr txBox="1"/>
          <p:nvPr/>
        </p:nvSpPr>
        <p:spPr>
          <a:xfrm>
            <a:off x="7154492" y="8390898"/>
            <a:ext cx="254051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+14 Students</a:t>
            </a:r>
            <a:endParaRPr/>
          </a:p>
        </p:txBody>
      </p:sp>
      <p:sp>
        <p:nvSpPr>
          <p:cNvPr id="267" name="Google Shape;267;p13"/>
          <p:cNvSpPr txBox="1"/>
          <p:nvPr/>
        </p:nvSpPr>
        <p:spPr>
          <a:xfrm>
            <a:off x="6269357" y="10995553"/>
            <a:ext cx="14198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-1.9%</a:t>
            </a:r>
            <a:endParaRPr/>
          </a:p>
        </p:txBody>
      </p:sp>
      <p:sp>
        <p:nvSpPr>
          <p:cNvPr id="268" name="Google Shape;268;p13"/>
          <p:cNvSpPr txBox="1"/>
          <p:nvPr/>
        </p:nvSpPr>
        <p:spPr>
          <a:xfrm>
            <a:off x="3751596" y="10933998"/>
            <a:ext cx="253598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Creativity</a:t>
            </a:r>
            <a:endParaRPr/>
          </a:p>
        </p:txBody>
      </p:sp>
      <p:sp>
        <p:nvSpPr>
          <p:cNvPr id="269" name="Google Shape;269;p13"/>
          <p:cNvSpPr txBox="1"/>
          <p:nvPr/>
        </p:nvSpPr>
        <p:spPr>
          <a:xfrm>
            <a:off x="7847217" y="10995553"/>
            <a:ext cx="254051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grpSp>
        <p:nvGrpSpPr>
          <p:cNvPr id="274" name="Google Shape;274;p14"/>
          <p:cNvGrpSpPr/>
          <p:nvPr/>
        </p:nvGrpSpPr>
        <p:grpSpPr>
          <a:xfrm>
            <a:off x="6287584" y="824518"/>
            <a:ext cx="11802708" cy="2182173"/>
            <a:chOff x="6287584" y="1071658"/>
            <a:chExt cx="11802708" cy="2182173"/>
          </a:xfrm>
        </p:grpSpPr>
        <p:sp>
          <p:nvSpPr>
            <p:cNvPr id="275" name="Google Shape;275;p14"/>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276" name="Google Shape;276;p14"/>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277" name="Google Shape;277;p14"/>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78" name="Google Shape;278;p14"/>
          <p:cNvSpPr/>
          <p:nvPr/>
        </p:nvSpPr>
        <p:spPr>
          <a:xfrm flipH="1" rot="10800000">
            <a:off x="9432556" y="3784904"/>
            <a:ext cx="2476870" cy="6690055"/>
          </a:xfrm>
          <a:prstGeom prst="roundRect">
            <a:avLst>
              <a:gd fmla="val 0" name="adj"/>
            </a:avLst>
          </a:prstGeom>
          <a:solidFill>
            <a:srgbClr val="D9DD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279" name="Google Shape;279;p14"/>
          <p:cNvGraphicFramePr/>
          <p:nvPr/>
        </p:nvGraphicFramePr>
        <p:xfrm>
          <a:off x="869951" y="3480464"/>
          <a:ext cx="22637750" cy="7083420"/>
        </p:xfrm>
        <a:graphic>
          <a:graphicData uri="http://schemas.openxmlformats.org/drawingml/2006/chart">
            <c:chart r:id="rId3"/>
          </a:graphicData>
        </a:graphic>
      </p:graphicFrame>
      <p:grpSp>
        <p:nvGrpSpPr>
          <p:cNvPr id="280" name="Google Shape;280;p14"/>
          <p:cNvGrpSpPr/>
          <p:nvPr/>
        </p:nvGrpSpPr>
        <p:grpSpPr>
          <a:xfrm>
            <a:off x="2561458" y="11315078"/>
            <a:ext cx="8312729" cy="898525"/>
            <a:chOff x="2533690" y="10269667"/>
            <a:chExt cx="19849233" cy="898525"/>
          </a:xfrm>
        </p:grpSpPr>
        <p:sp>
          <p:nvSpPr>
            <p:cNvPr id="281" name="Google Shape;281;p14"/>
            <p:cNvSpPr/>
            <p:nvPr/>
          </p:nvSpPr>
          <p:spPr>
            <a:xfrm>
              <a:off x="2533690" y="10269667"/>
              <a:ext cx="5914304" cy="898525"/>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18A93"/>
                </a:buClr>
                <a:buSzPts val="2800"/>
                <a:buFont typeface="Open Sans"/>
                <a:buNone/>
              </a:pPr>
              <a:r>
                <a:t/>
              </a:r>
              <a:endParaRPr sz="2800">
                <a:solidFill>
                  <a:srgbClr val="FFFFFF"/>
                </a:solidFill>
                <a:latin typeface="Helvetica Neue Light"/>
                <a:ea typeface="Helvetica Neue Light"/>
                <a:cs typeface="Helvetica Neue Light"/>
                <a:sym typeface="Helvetica Neue Light"/>
              </a:endParaRPr>
            </a:p>
          </p:txBody>
        </p:sp>
        <p:sp>
          <p:nvSpPr>
            <p:cNvPr id="282" name="Google Shape;282;p14"/>
            <p:cNvSpPr txBox="1"/>
            <p:nvPr/>
          </p:nvSpPr>
          <p:spPr>
            <a:xfrm>
              <a:off x="3174528" y="10449811"/>
              <a:ext cx="4466300" cy="533479"/>
            </a:xfrm>
            <a:prstGeom prst="rect">
              <a:avLst/>
            </a:prstGeom>
            <a:noFill/>
            <a:ln>
              <a:noFill/>
            </a:ln>
          </p:spPr>
          <p:txBody>
            <a:bodyPr anchorCtr="0" anchor="ctr" bIns="50800" lIns="50800" spcFirstLastPara="1" rIns="50800" wrap="square" tIns="50800">
              <a:spAutoFit/>
            </a:bodyPr>
            <a:lstStyle/>
            <a:p>
              <a:pPr indent="0" lvl="0" marL="0" marR="0" rtl="0" algn="ctr">
                <a:spcBef>
                  <a:spcPts val="0"/>
                </a:spcBef>
                <a:spcAft>
                  <a:spcPts val="0"/>
                </a:spcAft>
                <a:buNone/>
              </a:pPr>
              <a:r>
                <a:rPr b="1" lang="en-US" sz="2800">
                  <a:solidFill>
                    <a:srgbClr val="FFFFFF"/>
                  </a:solidFill>
                  <a:latin typeface="Century Gothic"/>
                  <a:ea typeface="Century Gothic"/>
                  <a:cs typeface="Century Gothic"/>
                  <a:sym typeface="Century Gothic"/>
                </a:rPr>
                <a:t>Learn</a:t>
              </a:r>
              <a:endParaRPr b="1" sz="2800">
                <a:solidFill>
                  <a:srgbClr val="FFFFFF"/>
                </a:solidFill>
                <a:latin typeface="Century Gothic"/>
                <a:ea typeface="Century Gothic"/>
                <a:cs typeface="Century Gothic"/>
                <a:sym typeface="Century Gothic"/>
              </a:endParaRPr>
            </a:p>
          </p:txBody>
        </p:sp>
        <p:sp>
          <p:nvSpPr>
            <p:cNvPr id="283" name="Google Shape;283;p14"/>
            <p:cNvSpPr/>
            <p:nvPr/>
          </p:nvSpPr>
          <p:spPr>
            <a:xfrm>
              <a:off x="9499751" y="10269667"/>
              <a:ext cx="5914304" cy="898525"/>
            </a:xfrm>
            <a:prstGeom prst="rect">
              <a:avLst/>
            </a:prstGeom>
            <a:solidFill>
              <a:schemeClr val="accent2"/>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18A93"/>
                </a:buClr>
                <a:buSzPts val="2800"/>
                <a:buFont typeface="Open Sans"/>
                <a:buNone/>
              </a:pPr>
              <a:r>
                <a:t/>
              </a:r>
              <a:endParaRPr sz="2800">
                <a:solidFill>
                  <a:srgbClr val="FFFFFF"/>
                </a:solidFill>
                <a:latin typeface="Helvetica Neue Light"/>
                <a:ea typeface="Helvetica Neue Light"/>
                <a:cs typeface="Helvetica Neue Light"/>
                <a:sym typeface="Helvetica Neue Light"/>
              </a:endParaRPr>
            </a:p>
          </p:txBody>
        </p:sp>
        <p:sp>
          <p:nvSpPr>
            <p:cNvPr id="284" name="Google Shape;284;p14"/>
            <p:cNvSpPr txBox="1"/>
            <p:nvPr/>
          </p:nvSpPr>
          <p:spPr>
            <a:xfrm>
              <a:off x="10223751" y="10447662"/>
              <a:ext cx="4466300" cy="533479"/>
            </a:xfrm>
            <a:prstGeom prst="rect">
              <a:avLst/>
            </a:prstGeom>
            <a:noFill/>
            <a:ln>
              <a:noFill/>
            </a:ln>
          </p:spPr>
          <p:txBody>
            <a:bodyPr anchorCtr="0" anchor="ctr" bIns="50800" lIns="50800" spcFirstLastPara="1" rIns="50800" wrap="square" tIns="50800">
              <a:spAutoFit/>
            </a:bodyPr>
            <a:lstStyle/>
            <a:p>
              <a:pPr indent="0" lvl="0" marL="0" marR="0" rtl="0" algn="ctr">
                <a:spcBef>
                  <a:spcPts val="0"/>
                </a:spcBef>
                <a:spcAft>
                  <a:spcPts val="0"/>
                </a:spcAft>
                <a:buNone/>
              </a:pPr>
              <a:r>
                <a:rPr b="1" lang="en-US" sz="2800">
                  <a:solidFill>
                    <a:srgbClr val="FFFFFF"/>
                  </a:solidFill>
                  <a:latin typeface="Century Gothic"/>
                  <a:ea typeface="Century Gothic"/>
                  <a:cs typeface="Century Gothic"/>
                  <a:sym typeface="Century Gothic"/>
                </a:rPr>
                <a:t>Creativity</a:t>
              </a:r>
              <a:endParaRPr b="1" sz="2800">
                <a:solidFill>
                  <a:srgbClr val="FFFFFF"/>
                </a:solidFill>
                <a:latin typeface="Century Gothic"/>
                <a:ea typeface="Century Gothic"/>
                <a:cs typeface="Century Gothic"/>
                <a:sym typeface="Century Gothic"/>
              </a:endParaRPr>
            </a:p>
          </p:txBody>
        </p:sp>
        <p:sp>
          <p:nvSpPr>
            <p:cNvPr id="285" name="Google Shape;285;p14"/>
            <p:cNvSpPr/>
            <p:nvPr/>
          </p:nvSpPr>
          <p:spPr>
            <a:xfrm>
              <a:off x="16468619" y="10269667"/>
              <a:ext cx="5914304" cy="898525"/>
            </a:xfrm>
            <a:prstGeom prst="rect">
              <a:avLst/>
            </a:prstGeom>
            <a:solidFill>
              <a:schemeClr val="accent3"/>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18A93"/>
                </a:buClr>
                <a:buSzPts val="2800"/>
                <a:buFont typeface="Open Sans"/>
                <a:buNone/>
              </a:pPr>
              <a:r>
                <a:t/>
              </a:r>
              <a:endParaRPr sz="2800">
                <a:solidFill>
                  <a:srgbClr val="FFFFFF"/>
                </a:solidFill>
                <a:latin typeface="Helvetica Neue Light"/>
                <a:ea typeface="Helvetica Neue Light"/>
                <a:cs typeface="Helvetica Neue Light"/>
                <a:sym typeface="Helvetica Neue Light"/>
              </a:endParaRPr>
            </a:p>
          </p:txBody>
        </p:sp>
        <p:sp>
          <p:nvSpPr>
            <p:cNvPr id="286" name="Google Shape;286;p14"/>
            <p:cNvSpPr txBox="1"/>
            <p:nvPr/>
          </p:nvSpPr>
          <p:spPr>
            <a:xfrm>
              <a:off x="17192619" y="10447662"/>
              <a:ext cx="4466300" cy="533479"/>
            </a:xfrm>
            <a:prstGeom prst="rect">
              <a:avLst/>
            </a:prstGeom>
            <a:noFill/>
            <a:ln>
              <a:noFill/>
            </a:ln>
          </p:spPr>
          <p:txBody>
            <a:bodyPr anchorCtr="0" anchor="ctr" bIns="50800" lIns="50800" spcFirstLastPara="1" rIns="50800" wrap="square" tIns="50800">
              <a:spAutoFit/>
            </a:bodyPr>
            <a:lstStyle/>
            <a:p>
              <a:pPr indent="0" lvl="0" marL="0" marR="0" rtl="0" algn="ctr">
                <a:spcBef>
                  <a:spcPts val="0"/>
                </a:spcBef>
                <a:spcAft>
                  <a:spcPts val="0"/>
                </a:spcAft>
                <a:buNone/>
              </a:pPr>
              <a:r>
                <a:rPr b="1" lang="en-US" sz="2800">
                  <a:solidFill>
                    <a:srgbClr val="FFFFFF"/>
                  </a:solidFill>
                  <a:latin typeface="Century Gothic"/>
                  <a:ea typeface="Century Gothic"/>
                  <a:cs typeface="Century Gothic"/>
                  <a:sym typeface="Century Gothic"/>
                </a:rPr>
                <a:t>Study</a:t>
              </a:r>
              <a:endParaRPr b="1" sz="2800">
                <a:solidFill>
                  <a:srgbClr val="FFFFFF"/>
                </a:solidFill>
                <a:latin typeface="Century Gothic"/>
                <a:ea typeface="Century Gothic"/>
                <a:cs typeface="Century Gothic"/>
                <a:sym typeface="Century Gothic"/>
              </a:endParaRPr>
            </a:p>
          </p:txBody>
        </p:sp>
      </p:grpSp>
      <p:sp>
        <p:nvSpPr>
          <p:cNvPr id="287" name="Google Shape;287;p14"/>
          <p:cNvSpPr txBox="1"/>
          <p:nvPr/>
        </p:nvSpPr>
        <p:spPr>
          <a:xfrm>
            <a:off x="13093486" y="11282758"/>
            <a:ext cx="9300513"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a:t>
            </a:r>
            <a:endParaRPr/>
          </a:p>
        </p:txBody>
      </p:sp>
      <p:grpSp>
        <p:nvGrpSpPr>
          <p:cNvPr id="288" name="Google Shape;288;p14"/>
          <p:cNvGrpSpPr/>
          <p:nvPr/>
        </p:nvGrpSpPr>
        <p:grpSpPr>
          <a:xfrm>
            <a:off x="8955957" y="4097663"/>
            <a:ext cx="3495312" cy="1915646"/>
            <a:chOff x="9120591" y="4644614"/>
            <a:chExt cx="3495312" cy="1915646"/>
          </a:xfrm>
        </p:grpSpPr>
        <p:sp>
          <p:nvSpPr>
            <p:cNvPr id="289" name="Google Shape;289;p14"/>
            <p:cNvSpPr txBox="1"/>
            <p:nvPr/>
          </p:nvSpPr>
          <p:spPr>
            <a:xfrm>
              <a:off x="9872301" y="4644614"/>
              <a:ext cx="1991892"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2"/>
                  </a:solidFill>
                  <a:latin typeface="Century Gothic"/>
                  <a:ea typeface="Century Gothic"/>
                  <a:cs typeface="Century Gothic"/>
                  <a:sym typeface="Century Gothic"/>
                </a:rPr>
                <a:t>Less Progress</a:t>
              </a:r>
              <a:endParaRPr/>
            </a:p>
          </p:txBody>
        </p:sp>
        <p:sp>
          <p:nvSpPr>
            <p:cNvPr id="290" name="Google Shape;290;p14"/>
            <p:cNvSpPr/>
            <p:nvPr/>
          </p:nvSpPr>
          <p:spPr>
            <a:xfrm>
              <a:off x="9120591" y="5719004"/>
              <a:ext cx="3495312" cy="841256"/>
            </a:xfrm>
            <a:prstGeom prst="rect">
              <a:avLst/>
            </a:prstGeom>
            <a:noFill/>
            <a:ln>
              <a:noFill/>
            </a:ln>
          </p:spPr>
          <p:txBody>
            <a:bodyPr anchorCtr="0" anchor="ctr" bIns="50800" lIns="50800" spcFirstLastPara="1" rIns="50800" wrap="square" tIns="50800">
              <a:spAutoFit/>
            </a:bodyPr>
            <a:lstStyle/>
            <a:p>
              <a:pPr indent="0" lvl="0" marL="0" marR="0" rtl="0" algn="ctr">
                <a:spcBef>
                  <a:spcPts val="0"/>
                </a:spcBef>
                <a:spcAft>
                  <a:spcPts val="0"/>
                </a:spcAft>
                <a:buNone/>
              </a:pPr>
              <a:r>
                <a:rPr b="1" lang="en-US" sz="4800">
                  <a:solidFill>
                    <a:schemeClr val="dk2"/>
                  </a:solidFill>
                  <a:latin typeface="Century Gothic"/>
                  <a:ea typeface="Century Gothic"/>
                  <a:cs typeface="Century Gothic"/>
                  <a:sym typeface="Century Gothic"/>
                </a:rPr>
                <a:t>-2.7%</a:t>
              </a:r>
              <a:endParaRPr b="1" sz="4800">
                <a:solidFill>
                  <a:schemeClr val="dk2"/>
                </a:solidFill>
                <a:latin typeface="Century Gothic"/>
                <a:ea typeface="Century Gothic"/>
                <a:cs typeface="Century Gothic"/>
                <a:sym typeface="Century Gothic"/>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5"/>
          <p:cNvSpPr/>
          <p:nvPr/>
        </p:nvSpPr>
        <p:spPr>
          <a:xfrm>
            <a:off x="14077241" y="11057831"/>
            <a:ext cx="8552401" cy="906213"/>
          </a:xfrm>
          <a:prstGeom prst="roundRect">
            <a:avLst>
              <a:gd fmla="val 16667" name="adj"/>
            </a:avLst>
          </a:prstGeom>
          <a:solidFill>
            <a:srgbClr val="D9DD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p15"/>
          <p:cNvSpPr/>
          <p:nvPr/>
        </p:nvSpPr>
        <p:spPr>
          <a:xfrm>
            <a:off x="1941094" y="8393857"/>
            <a:ext cx="8552401" cy="906213"/>
          </a:xfrm>
          <a:prstGeom prst="roundRect">
            <a:avLst>
              <a:gd fmla="val 16667" name="adj"/>
            </a:avLst>
          </a:prstGeom>
          <a:solidFill>
            <a:srgbClr val="D9DDF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97" name="Google Shape;297;p15"/>
          <p:cNvGrpSpPr/>
          <p:nvPr/>
        </p:nvGrpSpPr>
        <p:grpSpPr>
          <a:xfrm>
            <a:off x="6287584" y="824518"/>
            <a:ext cx="11802708" cy="2182173"/>
            <a:chOff x="6287584" y="1071658"/>
            <a:chExt cx="11802708" cy="2182173"/>
          </a:xfrm>
        </p:grpSpPr>
        <p:sp>
          <p:nvSpPr>
            <p:cNvPr id="298" name="Google Shape;298;p15"/>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299" name="Google Shape;299;p15"/>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300" name="Google Shape;300;p15"/>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aphicFrame>
        <p:nvGraphicFramePr>
          <p:cNvPr id="301" name="Google Shape;301;p15"/>
          <p:cNvGraphicFramePr/>
          <p:nvPr/>
        </p:nvGraphicFramePr>
        <p:xfrm>
          <a:off x="3648972" y="3958501"/>
          <a:ext cx="5131134" cy="4745632"/>
        </p:xfrm>
        <a:graphic>
          <a:graphicData uri="http://schemas.openxmlformats.org/drawingml/2006/chart">
            <c:chart r:id="rId3"/>
          </a:graphicData>
        </a:graphic>
      </p:graphicFrame>
      <p:graphicFrame>
        <p:nvGraphicFramePr>
          <p:cNvPr id="302" name="Google Shape;302;p15"/>
          <p:cNvGraphicFramePr/>
          <p:nvPr/>
        </p:nvGraphicFramePr>
        <p:xfrm>
          <a:off x="15433734" y="3958501"/>
          <a:ext cx="5131134" cy="4745632"/>
        </p:xfrm>
        <a:graphic>
          <a:graphicData uri="http://schemas.openxmlformats.org/drawingml/2006/chart">
            <c:chart r:id="rId4"/>
          </a:graphicData>
        </a:graphic>
      </p:graphicFrame>
      <p:grpSp>
        <p:nvGrpSpPr>
          <p:cNvPr id="303" name="Google Shape;303;p15"/>
          <p:cNvGrpSpPr/>
          <p:nvPr/>
        </p:nvGrpSpPr>
        <p:grpSpPr>
          <a:xfrm>
            <a:off x="4930344" y="5374717"/>
            <a:ext cx="2568390" cy="1426032"/>
            <a:chOff x="3083708" y="6062957"/>
            <a:chExt cx="3495312" cy="1426032"/>
          </a:xfrm>
        </p:grpSpPr>
        <p:sp>
          <p:nvSpPr>
            <p:cNvPr id="304" name="Google Shape;304;p15"/>
            <p:cNvSpPr txBox="1"/>
            <p:nvPr/>
          </p:nvSpPr>
          <p:spPr>
            <a:xfrm>
              <a:off x="3375144" y="7088879"/>
              <a:ext cx="291244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entury Gothic"/>
                  <a:ea typeface="Century Gothic"/>
                  <a:cs typeface="Century Gothic"/>
                  <a:sym typeface="Century Gothic"/>
                </a:rPr>
                <a:t>Matt Class</a:t>
              </a:r>
              <a:endParaRPr/>
            </a:p>
          </p:txBody>
        </p:sp>
        <p:sp>
          <p:nvSpPr>
            <p:cNvPr id="305" name="Google Shape;305;p15"/>
            <p:cNvSpPr/>
            <p:nvPr/>
          </p:nvSpPr>
          <p:spPr>
            <a:xfrm>
              <a:off x="3083708" y="6062957"/>
              <a:ext cx="3495312" cy="1025922"/>
            </a:xfrm>
            <a:prstGeom prst="rect">
              <a:avLst/>
            </a:prstGeom>
            <a:noFill/>
            <a:ln>
              <a:noFill/>
            </a:ln>
          </p:spPr>
          <p:txBody>
            <a:bodyPr anchorCtr="0" anchor="ctr" bIns="50800" lIns="50800" spcFirstLastPara="1" rIns="50800" wrap="square" tIns="50800">
              <a:spAutoFit/>
            </a:bodyPr>
            <a:lstStyle/>
            <a:p>
              <a:pPr indent="0" lvl="0" marL="0" marR="0" rtl="0" algn="ctr">
                <a:spcBef>
                  <a:spcPts val="0"/>
                </a:spcBef>
                <a:spcAft>
                  <a:spcPts val="0"/>
                </a:spcAft>
                <a:buNone/>
              </a:pPr>
              <a:r>
                <a:rPr b="1" lang="en-US" sz="6000">
                  <a:solidFill>
                    <a:schemeClr val="dk2"/>
                  </a:solidFill>
                  <a:latin typeface="Century Gothic"/>
                  <a:ea typeface="Century Gothic"/>
                  <a:cs typeface="Century Gothic"/>
                  <a:sym typeface="Century Gothic"/>
                </a:rPr>
                <a:t>89.5</a:t>
              </a:r>
              <a:endParaRPr b="1" sz="6000">
                <a:solidFill>
                  <a:schemeClr val="dk2"/>
                </a:solidFill>
                <a:latin typeface="Century Gothic"/>
                <a:ea typeface="Century Gothic"/>
                <a:cs typeface="Century Gothic"/>
                <a:sym typeface="Century Gothic"/>
              </a:endParaRPr>
            </a:p>
          </p:txBody>
        </p:sp>
      </p:grpSp>
      <p:grpSp>
        <p:nvGrpSpPr>
          <p:cNvPr id="306" name="Google Shape;306;p15"/>
          <p:cNvGrpSpPr/>
          <p:nvPr/>
        </p:nvGrpSpPr>
        <p:grpSpPr>
          <a:xfrm>
            <a:off x="16786824" y="5374717"/>
            <a:ext cx="2568390" cy="1426032"/>
            <a:chOff x="3083708" y="6062957"/>
            <a:chExt cx="3495312" cy="1426032"/>
          </a:xfrm>
        </p:grpSpPr>
        <p:sp>
          <p:nvSpPr>
            <p:cNvPr id="307" name="Google Shape;307;p15"/>
            <p:cNvSpPr txBox="1"/>
            <p:nvPr/>
          </p:nvSpPr>
          <p:spPr>
            <a:xfrm>
              <a:off x="3083708" y="7088879"/>
              <a:ext cx="349531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entury Gothic"/>
                  <a:ea typeface="Century Gothic"/>
                  <a:cs typeface="Century Gothic"/>
                  <a:sym typeface="Century Gothic"/>
                </a:rPr>
                <a:t>Chemical Class</a:t>
              </a:r>
              <a:endParaRPr/>
            </a:p>
          </p:txBody>
        </p:sp>
        <p:sp>
          <p:nvSpPr>
            <p:cNvPr id="308" name="Google Shape;308;p15"/>
            <p:cNvSpPr/>
            <p:nvPr/>
          </p:nvSpPr>
          <p:spPr>
            <a:xfrm>
              <a:off x="3083708" y="6062957"/>
              <a:ext cx="3495312" cy="1025922"/>
            </a:xfrm>
            <a:prstGeom prst="rect">
              <a:avLst/>
            </a:prstGeom>
            <a:noFill/>
            <a:ln>
              <a:noFill/>
            </a:ln>
          </p:spPr>
          <p:txBody>
            <a:bodyPr anchorCtr="0" anchor="ctr" bIns="50800" lIns="50800" spcFirstLastPara="1" rIns="50800" wrap="square" tIns="50800">
              <a:spAutoFit/>
            </a:bodyPr>
            <a:lstStyle/>
            <a:p>
              <a:pPr indent="0" lvl="0" marL="0" marR="0" rtl="0" algn="ctr">
                <a:spcBef>
                  <a:spcPts val="0"/>
                </a:spcBef>
                <a:spcAft>
                  <a:spcPts val="0"/>
                </a:spcAft>
                <a:buNone/>
              </a:pPr>
              <a:r>
                <a:rPr b="1" lang="en-US" sz="6000">
                  <a:solidFill>
                    <a:schemeClr val="dk2"/>
                  </a:solidFill>
                  <a:latin typeface="Century Gothic"/>
                  <a:ea typeface="Century Gothic"/>
                  <a:cs typeface="Century Gothic"/>
                  <a:sym typeface="Century Gothic"/>
                </a:rPr>
                <a:t>95.4</a:t>
              </a:r>
              <a:endParaRPr b="1" sz="6000">
                <a:solidFill>
                  <a:schemeClr val="dk2"/>
                </a:solidFill>
                <a:latin typeface="Century Gothic"/>
                <a:ea typeface="Century Gothic"/>
                <a:cs typeface="Century Gothic"/>
                <a:sym typeface="Century Gothic"/>
              </a:endParaRPr>
            </a:p>
          </p:txBody>
        </p:sp>
      </p:grpSp>
      <p:sp>
        <p:nvSpPr>
          <p:cNvPr id="309" name="Google Shape;309;p15"/>
          <p:cNvSpPr/>
          <p:nvPr/>
        </p:nvSpPr>
        <p:spPr>
          <a:xfrm>
            <a:off x="2153196" y="8525057"/>
            <a:ext cx="690288" cy="69028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 name="Google Shape;310;p15"/>
          <p:cNvSpPr txBox="1"/>
          <p:nvPr/>
        </p:nvSpPr>
        <p:spPr>
          <a:xfrm>
            <a:off x="6372363" y="8608590"/>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100 pts.</a:t>
            </a:r>
            <a:endParaRPr/>
          </a:p>
        </p:txBody>
      </p:sp>
      <p:sp>
        <p:nvSpPr>
          <p:cNvPr id="311" name="Google Shape;311;p15"/>
          <p:cNvSpPr txBox="1"/>
          <p:nvPr/>
        </p:nvSpPr>
        <p:spPr>
          <a:xfrm>
            <a:off x="3267591" y="8608590"/>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1"/>
                </a:solidFill>
                <a:latin typeface="Century Gothic"/>
                <a:ea typeface="Century Gothic"/>
                <a:cs typeface="Century Gothic"/>
                <a:sym typeface="Century Gothic"/>
              </a:rPr>
              <a:t>Jessy Jones</a:t>
            </a:r>
            <a:endParaRPr/>
          </a:p>
        </p:txBody>
      </p:sp>
      <p:sp>
        <p:nvSpPr>
          <p:cNvPr id="312" name="Google Shape;312;p15"/>
          <p:cNvSpPr/>
          <p:nvPr/>
        </p:nvSpPr>
        <p:spPr>
          <a:xfrm>
            <a:off x="2153196" y="9384912"/>
            <a:ext cx="690288" cy="69028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15"/>
          <p:cNvSpPr txBox="1"/>
          <p:nvPr/>
        </p:nvSpPr>
        <p:spPr>
          <a:xfrm>
            <a:off x="6372363" y="9468445"/>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85 pts.</a:t>
            </a:r>
            <a:endParaRPr/>
          </a:p>
        </p:txBody>
      </p:sp>
      <p:sp>
        <p:nvSpPr>
          <p:cNvPr id="314" name="Google Shape;314;p15"/>
          <p:cNvSpPr txBox="1"/>
          <p:nvPr/>
        </p:nvSpPr>
        <p:spPr>
          <a:xfrm>
            <a:off x="3267591" y="9468445"/>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2"/>
                </a:solidFill>
                <a:latin typeface="Century Gothic"/>
                <a:ea typeface="Century Gothic"/>
                <a:cs typeface="Century Gothic"/>
                <a:sym typeface="Century Gothic"/>
              </a:rPr>
              <a:t>Kelly Clark</a:t>
            </a:r>
            <a:endParaRPr/>
          </a:p>
        </p:txBody>
      </p:sp>
      <p:sp>
        <p:nvSpPr>
          <p:cNvPr id="315" name="Google Shape;315;p15"/>
          <p:cNvSpPr/>
          <p:nvPr/>
        </p:nvSpPr>
        <p:spPr>
          <a:xfrm>
            <a:off x="2153196" y="10282703"/>
            <a:ext cx="690288" cy="69028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16" name="Google Shape;316;p15"/>
          <p:cNvSpPr txBox="1"/>
          <p:nvPr/>
        </p:nvSpPr>
        <p:spPr>
          <a:xfrm>
            <a:off x="6372363" y="10366236"/>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72 pts.</a:t>
            </a:r>
            <a:endParaRPr/>
          </a:p>
        </p:txBody>
      </p:sp>
      <p:sp>
        <p:nvSpPr>
          <p:cNvPr id="317" name="Google Shape;317;p15"/>
          <p:cNvSpPr txBox="1"/>
          <p:nvPr/>
        </p:nvSpPr>
        <p:spPr>
          <a:xfrm>
            <a:off x="3267591" y="10366236"/>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3"/>
                </a:solidFill>
                <a:latin typeface="Century Gothic"/>
                <a:ea typeface="Century Gothic"/>
                <a:cs typeface="Century Gothic"/>
                <a:sym typeface="Century Gothic"/>
              </a:rPr>
              <a:t>Grant Bradley</a:t>
            </a:r>
            <a:endParaRPr/>
          </a:p>
        </p:txBody>
      </p:sp>
      <p:sp>
        <p:nvSpPr>
          <p:cNvPr id="318" name="Google Shape;318;p15"/>
          <p:cNvSpPr/>
          <p:nvPr/>
        </p:nvSpPr>
        <p:spPr>
          <a:xfrm>
            <a:off x="2153196" y="11157548"/>
            <a:ext cx="690288" cy="69028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p15"/>
          <p:cNvSpPr txBox="1"/>
          <p:nvPr/>
        </p:nvSpPr>
        <p:spPr>
          <a:xfrm>
            <a:off x="6372363" y="11241081"/>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95 pts.</a:t>
            </a:r>
            <a:endParaRPr/>
          </a:p>
        </p:txBody>
      </p:sp>
      <p:sp>
        <p:nvSpPr>
          <p:cNvPr id="320" name="Google Shape;320;p15"/>
          <p:cNvSpPr txBox="1"/>
          <p:nvPr/>
        </p:nvSpPr>
        <p:spPr>
          <a:xfrm>
            <a:off x="3267591" y="11241081"/>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4"/>
                </a:solidFill>
                <a:latin typeface="Century Gothic"/>
                <a:ea typeface="Century Gothic"/>
                <a:cs typeface="Century Gothic"/>
                <a:sym typeface="Century Gothic"/>
              </a:rPr>
              <a:t>Jett Reynolds</a:t>
            </a:r>
            <a:endParaRPr/>
          </a:p>
        </p:txBody>
      </p:sp>
      <p:sp>
        <p:nvSpPr>
          <p:cNvPr id="321" name="Google Shape;321;p15"/>
          <p:cNvSpPr txBox="1"/>
          <p:nvPr/>
        </p:nvSpPr>
        <p:spPr>
          <a:xfrm>
            <a:off x="8297717" y="8608590"/>
            <a:ext cx="225525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 01</a:t>
            </a:r>
            <a:endParaRPr/>
          </a:p>
        </p:txBody>
      </p:sp>
      <p:sp>
        <p:nvSpPr>
          <p:cNvPr id="322" name="Google Shape;322;p15"/>
          <p:cNvSpPr txBox="1"/>
          <p:nvPr/>
        </p:nvSpPr>
        <p:spPr>
          <a:xfrm>
            <a:off x="8297718" y="9468445"/>
            <a:ext cx="22552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 02</a:t>
            </a:r>
            <a:endParaRPr/>
          </a:p>
        </p:txBody>
      </p:sp>
      <p:sp>
        <p:nvSpPr>
          <p:cNvPr id="323" name="Google Shape;323;p15"/>
          <p:cNvSpPr txBox="1"/>
          <p:nvPr/>
        </p:nvSpPr>
        <p:spPr>
          <a:xfrm>
            <a:off x="8297718" y="10366236"/>
            <a:ext cx="22552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 03</a:t>
            </a:r>
            <a:endParaRPr/>
          </a:p>
        </p:txBody>
      </p:sp>
      <p:sp>
        <p:nvSpPr>
          <p:cNvPr id="324" name="Google Shape;324;p15"/>
          <p:cNvSpPr txBox="1"/>
          <p:nvPr/>
        </p:nvSpPr>
        <p:spPr>
          <a:xfrm>
            <a:off x="8297718" y="11241081"/>
            <a:ext cx="22552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 04</a:t>
            </a:r>
            <a:endParaRPr/>
          </a:p>
        </p:txBody>
      </p:sp>
      <p:sp>
        <p:nvSpPr>
          <p:cNvPr id="325" name="Google Shape;325;p15"/>
          <p:cNvSpPr/>
          <p:nvPr/>
        </p:nvSpPr>
        <p:spPr>
          <a:xfrm>
            <a:off x="14250088" y="8525057"/>
            <a:ext cx="690288" cy="69028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p15"/>
          <p:cNvSpPr txBox="1"/>
          <p:nvPr/>
        </p:nvSpPr>
        <p:spPr>
          <a:xfrm>
            <a:off x="18481170" y="8608590"/>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80 pts.</a:t>
            </a:r>
            <a:endParaRPr/>
          </a:p>
        </p:txBody>
      </p:sp>
      <p:sp>
        <p:nvSpPr>
          <p:cNvPr id="327" name="Google Shape;327;p15"/>
          <p:cNvSpPr txBox="1"/>
          <p:nvPr/>
        </p:nvSpPr>
        <p:spPr>
          <a:xfrm>
            <a:off x="15364483" y="8608590"/>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1"/>
                </a:solidFill>
                <a:latin typeface="Century Gothic"/>
                <a:ea typeface="Century Gothic"/>
                <a:cs typeface="Century Gothic"/>
                <a:sym typeface="Century Gothic"/>
              </a:rPr>
              <a:t>Joe Brown</a:t>
            </a:r>
            <a:endParaRPr/>
          </a:p>
        </p:txBody>
      </p:sp>
      <p:sp>
        <p:nvSpPr>
          <p:cNvPr id="328" name="Google Shape;328;p15"/>
          <p:cNvSpPr/>
          <p:nvPr/>
        </p:nvSpPr>
        <p:spPr>
          <a:xfrm>
            <a:off x="14250088" y="9384912"/>
            <a:ext cx="690288" cy="69028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p15"/>
          <p:cNvSpPr txBox="1"/>
          <p:nvPr/>
        </p:nvSpPr>
        <p:spPr>
          <a:xfrm>
            <a:off x="18481170" y="9468445"/>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85 pts.</a:t>
            </a:r>
            <a:endParaRPr/>
          </a:p>
        </p:txBody>
      </p:sp>
      <p:sp>
        <p:nvSpPr>
          <p:cNvPr id="330" name="Google Shape;330;p15"/>
          <p:cNvSpPr txBox="1"/>
          <p:nvPr/>
        </p:nvSpPr>
        <p:spPr>
          <a:xfrm>
            <a:off x="15364483" y="9468445"/>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2"/>
                </a:solidFill>
                <a:latin typeface="Century Gothic"/>
                <a:ea typeface="Century Gothic"/>
                <a:cs typeface="Century Gothic"/>
                <a:sym typeface="Century Gothic"/>
              </a:rPr>
              <a:t>Hanna Smith</a:t>
            </a:r>
            <a:endParaRPr/>
          </a:p>
        </p:txBody>
      </p:sp>
      <p:sp>
        <p:nvSpPr>
          <p:cNvPr id="331" name="Google Shape;331;p15"/>
          <p:cNvSpPr/>
          <p:nvPr/>
        </p:nvSpPr>
        <p:spPr>
          <a:xfrm>
            <a:off x="14250088" y="10282703"/>
            <a:ext cx="690288" cy="69028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332" name="Google Shape;332;p15"/>
          <p:cNvSpPr txBox="1"/>
          <p:nvPr/>
        </p:nvSpPr>
        <p:spPr>
          <a:xfrm>
            <a:off x="18481170" y="10366236"/>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79 pts.</a:t>
            </a:r>
            <a:endParaRPr/>
          </a:p>
        </p:txBody>
      </p:sp>
      <p:sp>
        <p:nvSpPr>
          <p:cNvPr id="333" name="Google Shape;333;p15"/>
          <p:cNvSpPr txBox="1"/>
          <p:nvPr/>
        </p:nvSpPr>
        <p:spPr>
          <a:xfrm>
            <a:off x="15364483" y="10366236"/>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3"/>
                </a:solidFill>
                <a:latin typeface="Century Gothic"/>
                <a:ea typeface="Century Gothic"/>
                <a:cs typeface="Century Gothic"/>
                <a:sym typeface="Century Gothic"/>
              </a:rPr>
              <a:t>Andy Mills</a:t>
            </a:r>
            <a:endParaRPr/>
          </a:p>
        </p:txBody>
      </p:sp>
      <p:sp>
        <p:nvSpPr>
          <p:cNvPr id="334" name="Google Shape;334;p15"/>
          <p:cNvSpPr/>
          <p:nvPr/>
        </p:nvSpPr>
        <p:spPr>
          <a:xfrm>
            <a:off x="14250088" y="11157548"/>
            <a:ext cx="690288" cy="69028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 name="Google Shape;335;p15"/>
          <p:cNvSpPr txBox="1"/>
          <p:nvPr/>
        </p:nvSpPr>
        <p:spPr>
          <a:xfrm>
            <a:off x="18481170" y="11241081"/>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100 pts.</a:t>
            </a:r>
            <a:endParaRPr/>
          </a:p>
        </p:txBody>
      </p:sp>
      <p:sp>
        <p:nvSpPr>
          <p:cNvPr id="336" name="Google Shape;336;p15"/>
          <p:cNvSpPr txBox="1"/>
          <p:nvPr/>
        </p:nvSpPr>
        <p:spPr>
          <a:xfrm>
            <a:off x="15364483" y="11241081"/>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4"/>
                </a:solidFill>
                <a:latin typeface="Century Gothic"/>
                <a:ea typeface="Century Gothic"/>
                <a:cs typeface="Century Gothic"/>
                <a:sym typeface="Century Gothic"/>
              </a:rPr>
              <a:t>Paul McGill</a:t>
            </a:r>
            <a:endParaRPr/>
          </a:p>
        </p:txBody>
      </p:sp>
      <p:sp>
        <p:nvSpPr>
          <p:cNvPr id="337" name="Google Shape;337;p15"/>
          <p:cNvSpPr txBox="1"/>
          <p:nvPr/>
        </p:nvSpPr>
        <p:spPr>
          <a:xfrm>
            <a:off x="20446281" y="8608590"/>
            <a:ext cx="225525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 01</a:t>
            </a:r>
            <a:endParaRPr/>
          </a:p>
        </p:txBody>
      </p:sp>
      <p:sp>
        <p:nvSpPr>
          <p:cNvPr id="338" name="Google Shape;338;p15"/>
          <p:cNvSpPr txBox="1"/>
          <p:nvPr/>
        </p:nvSpPr>
        <p:spPr>
          <a:xfrm>
            <a:off x="20446281" y="9468445"/>
            <a:ext cx="22552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 02</a:t>
            </a:r>
            <a:endParaRPr/>
          </a:p>
        </p:txBody>
      </p:sp>
      <p:sp>
        <p:nvSpPr>
          <p:cNvPr id="339" name="Google Shape;339;p15"/>
          <p:cNvSpPr txBox="1"/>
          <p:nvPr/>
        </p:nvSpPr>
        <p:spPr>
          <a:xfrm>
            <a:off x="20446281" y="10366236"/>
            <a:ext cx="22552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 03</a:t>
            </a:r>
            <a:endParaRPr/>
          </a:p>
        </p:txBody>
      </p:sp>
      <p:sp>
        <p:nvSpPr>
          <p:cNvPr id="340" name="Google Shape;340;p15"/>
          <p:cNvSpPr txBox="1"/>
          <p:nvPr/>
        </p:nvSpPr>
        <p:spPr>
          <a:xfrm>
            <a:off x="20446281" y="11241081"/>
            <a:ext cx="22552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 04</a:t>
            </a:r>
            <a:endParaRPr/>
          </a:p>
        </p:txBody>
      </p:sp>
      <p:sp>
        <p:nvSpPr>
          <p:cNvPr id="341" name="Google Shape;341;p15"/>
          <p:cNvSpPr/>
          <p:nvPr/>
        </p:nvSpPr>
        <p:spPr>
          <a:xfrm>
            <a:off x="2153196" y="12036089"/>
            <a:ext cx="690288" cy="69028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2" name="Google Shape;342;p15"/>
          <p:cNvSpPr txBox="1"/>
          <p:nvPr/>
        </p:nvSpPr>
        <p:spPr>
          <a:xfrm>
            <a:off x="6372363" y="12119622"/>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80 pts.</a:t>
            </a:r>
            <a:endParaRPr/>
          </a:p>
        </p:txBody>
      </p:sp>
      <p:sp>
        <p:nvSpPr>
          <p:cNvPr id="343" name="Google Shape;343;p15"/>
          <p:cNvSpPr txBox="1"/>
          <p:nvPr/>
        </p:nvSpPr>
        <p:spPr>
          <a:xfrm>
            <a:off x="3267591" y="12119622"/>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5"/>
                </a:solidFill>
                <a:latin typeface="Century Gothic"/>
                <a:ea typeface="Century Gothic"/>
                <a:cs typeface="Century Gothic"/>
                <a:sym typeface="Century Gothic"/>
              </a:rPr>
              <a:t>Chris Olms</a:t>
            </a:r>
            <a:endParaRPr/>
          </a:p>
        </p:txBody>
      </p:sp>
      <p:sp>
        <p:nvSpPr>
          <p:cNvPr id="344" name="Google Shape;344;p15"/>
          <p:cNvSpPr txBox="1"/>
          <p:nvPr/>
        </p:nvSpPr>
        <p:spPr>
          <a:xfrm>
            <a:off x="8297718" y="12119622"/>
            <a:ext cx="22552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 04</a:t>
            </a:r>
            <a:endParaRPr/>
          </a:p>
        </p:txBody>
      </p:sp>
      <p:sp>
        <p:nvSpPr>
          <p:cNvPr id="345" name="Google Shape;345;p15"/>
          <p:cNvSpPr/>
          <p:nvPr/>
        </p:nvSpPr>
        <p:spPr>
          <a:xfrm>
            <a:off x="14250088" y="12036089"/>
            <a:ext cx="690288" cy="69028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15"/>
          <p:cNvSpPr txBox="1"/>
          <p:nvPr/>
        </p:nvSpPr>
        <p:spPr>
          <a:xfrm>
            <a:off x="18481170" y="12119622"/>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97 pts.</a:t>
            </a:r>
            <a:endParaRPr/>
          </a:p>
        </p:txBody>
      </p:sp>
      <p:sp>
        <p:nvSpPr>
          <p:cNvPr id="347" name="Google Shape;347;p15"/>
          <p:cNvSpPr txBox="1"/>
          <p:nvPr/>
        </p:nvSpPr>
        <p:spPr>
          <a:xfrm>
            <a:off x="15364483" y="12119622"/>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5"/>
                </a:solidFill>
                <a:latin typeface="Century Gothic"/>
                <a:ea typeface="Century Gothic"/>
                <a:cs typeface="Century Gothic"/>
                <a:sym typeface="Century Gothic"/>
              </a:rPr>
              <a:t>Jackie Smith</a:t>
            </a:r>
            <a:endParaRPr/>
          </a:p>
        </p:txBody>
      </p:sp>
      <p:sp>
        <p:nvSpPr>
          <p:cNvPr id="348" name="Google Shape;348;p15"/>
          <p:cNvSpPr txBox="1"/>
          <p:nvPr/>
        </p:nvSpPr>
        <p:spPr>
          <a:xfrm>
            <a:off x="20446281" y="12119622"/>
            <a:ext cx="22552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Student 04</a:t>
            </a:r>
            <a:endParaRPr/>
          </a:p>
        </p:txBody>
      </p:sp>
      <p:sp>
        <p:nvSpPr>
          <p:cNvPr id="349" name="Google Shape;349;p15"/>
          <p:cNvSpPr txBox="1"/>
          <p:nvPr/>
        </p:nvSpPr>
        <p:spPr>
          <a:xfrm>
            <a:off x="9013168" y="4790335"/>
            <a:ext cx="6351316" cy="230832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chemeClr val="dk2"/>
                </a:solidFill>
                <a:latin typeface="Century Gothic"/>
                <a:ea typeface="Century Gothic"/>
                <a:cs typeface="Century Gothic"/>
                <a:sym typeface="Century Gothic"/>
              </a:rPr>
              <a:t>Students deserve every opportunity to succeed.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grpSp>
        <p:nvGrpSpPr>
          <p:cNvPr id="354" name="Google Shape;354;p16"/>
          <p:cNvGrpSpPr/>
          <p:nvPr/>
        </p:nvGrpSpPr>
        <p:grpSpPr>
          <a:xfrm>
            <a:off x="6287584" y="824518"/>
            <a:ext cx="11802708" cy="2182173"/>
            <a:chOff x="6287584" y="1071658"/>
            <a:chExt cx="11802708" cy="2182173"/>
          </a:xfrm>
        </p:grpSpPr>
        <p:sp>
          <p:nvSpPr>
            <p:cNvPr id="355" name="Google Shape;355;p16"/>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356" name="Google Shape;356;p16"/>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357" name="Google Shape;357;p16"/>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58" name="Google Shape;358;p16"/>
          <p:cNvSpPr/>
          <p:nvPr/>
        </p:nvSpPr>
        <p:spPr>
          <a:xfrm>
            <a:off x="13195636" y="4356124"/>
            <a:ext cx="3638033" cy="1284660"/>
          </a:xfrm>
          <a:prstGeom prst="round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359" name="Google Shape;359;p16"/>
          <p:cNvGraphicFramePr/>
          <p:nvPr/>
        </p:nvGraphicFramePr>
        <p:xfrm>
          <a:off x="1639572" y="4391777"/>
          <a:ext cx="21098508" cy="5392303"/>
        </p:xfrm>
        <a:graphic>
          <a:graphicData uri="http://schemas.openxmlformats.org/drawingml/2006/chart">
            <c:chart r:id="rId3"/>
          </a:graphicData>
        </a:graphic>
      </p:graphicFrame>
      <p:grpSp>
        <p:nvGrpSpPr>
          <p:cNvPr id="360" name="Google Shape;360;p16"/>
          <p:cNvGrpSpPr/>
          <p:nvPr/>
        </p:nvGrpSpPr>
        <p:grpSpPr>
          <a:xfrm>
            <a:off x="2804343" y="10497538"/>
            <a:ext cx="18759955" cy="1803638"/>
            <a:chOff x="2804343" y="10633633"/>
            <a:chExt cx="18759955" cy="1803638"/>
          </a:xfrm>
        </p:grpSpPr>
        <p:grpSp>
          <p:nvGrpSpPr>
            <p:cNvPr id="361" name="Google Shape;361;p16"/>
            <p:cNvGrpSpPr/>
            <p:nvPr/>
          </p:nvGrpSpPr>
          <p:grpSpPr>
            <a:xfrm>
              <a:off x="12810190" y="10633634"/>
              <a:ext cx="8754108" cy="1803637"/>
              <a:chOff x="1639572" y="10204044"/>
              <a:chExt cx="8754108" cy="1803637"/>
            </a:xfrm>
          </p:grpSpPr>
          <p:sp>
            <p:nvSpPr>
              <p:cNvPr id="362" name="Google Shape;362;p16"/>
              <p:cNvSpPr txBox="1"/>
              <p:nvPr/>
            </p:nvSpPr>
            <p:spPr>
              <a:xfrm>
                <a:off x="1639572" y="11053574"/>
                <a:ext cx="8754108"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a:t>
                </a:r>
                <a:endParaRPr/>
              </a:p>
            </p:txBody>
          </p:sp>
          <p:sp>
            <p:nvSpPr>
              <p:cNvPr id="363" name="Google Shape;363;p16"/>
              <p:cNvSpPr txBox="1"/>
              <p:nvPr/>
            </p:nvSpPr>
            <p:spPr>
              <a:xfrm>
                <a:off x="1639573" y="10204044"/>
                <a:ext cx="575786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Progress Class</a:t>
                </a:r>
                <a:endParaRPr/>
              </a:p>
            </p:txBody>
          </p:sp>
        </p:grpSp>
        <p:grpSp>
          <p:nvGrpSpPr>
            <p:cNvPr id="364" name="Google Shape;364;p16"/>
            <p:cNvGrpSpPr/>
            <p:nvPr/>
          </p:nvGrpSpPr>
          <p:grpSpPr>
            <a:xfrm>
              <a:off x="2804343" y="10633633"/>
              <a:ext cx="8138984" cy="1803637"/>
              <a:chOff x="13195636" y="10633633"/>
              <a:chExt cx="8138984" cy="1803637"/>
            </a:xfrm>
          </p:grpSpPr>
          <p:sp>
            <p:nvSpPr>
              <p:cNvPr id="365" name="Google Shape;365;p16"/>
              <p:cNvSpPr/>
              <p:nvPr/>
            </p:nvSpPr>
            <p:spPr>
              <a:xfrm>
                <a:off x="13195636" y="10633633"/>
                <a:ext cx="8138984" cy="180363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66" name="Google Shape;366;p16"/>
              <p:cNvGrpSpPr/>
              <p:nvPr/>
            </p:nvGrpSpPr>
            <p:grpSpPr>
              <a:xfrm>
                <a:off x="13596803" y="11050430"/>
                <a:ext cx="7444224" cy="1015663"/>
                <a:chOff x="12697478" y="11050430"/>
                <a:chExt cx="7444224" cy="1015663"/>
              </a:xfrm>
            </p:grpSpPr>
            <p:sp>
              <p:nvSpPr>
                <p:cNvPr id="367" name="Google Shape;367;p16"/>
                <p:cNvSpPr txBox="1"/>
                <p:nvPr/>
              </p:nvSpPr>
              <p:spPr>
                <a:xfrm flipH="1">
                  <a:off x="12697478" y="11050430"/>
                  <a:ext cx="2234409"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chemeClr val="dk2"/>
                      </a:solidFill>
                      <a:latin typeface="Century Gothic"/>
                      <a:ea typeface="Century Gothic"/>
                      <a:cs typeface="Century Gothic"/>
                      <a:sym typeface="Century Gothic"/>
                    </a:rPr>
                    <a:t>+725</a:t>
                  </a:r>
                  <a:endParaRPr/>
                </a:p>
              </p:txBody>
            </p:sp>
            <p:sp>
              <p:nvSpPr>
                <p:cNvPr id="368" name="Google Shape;368;p16"/>
                <p:cNvSpPr txBox="1"/>
                <p:nvPr/>
              </p:nvSpPr>
              <p:spPr>
                <a:xfrm>
                  <a:off x="14978205" y="11081207"/>
                  <a:ext cx="5163498"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a:t>
                  </a:r>
                  <a:endParaRPr/>
                </a:p>
              </p:txBody>
            </p:sp>
          </p:grpSp>
        </p:grpSp>
      </p:grpSp>
      <p:sp>
        <p:nvSpPr>
          <p:cNvPr id="369" name="Google Shape;369;p16"/>
          <p:cNvSpPr txBox="1"/>
          <p:nvPr/>
        </p:nvSpPr>
        <p:spPr>
          <a:xfrm flipH="1">
            <a:off x="8875059" y="4880491"/>
            <a:ext cx="2585421"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chemeClr val="dk2"/>
                </a:solidFill>
                <a:latin typeface="Century Gothic"/>
                <a:ea typeface="Century Gothic"/>
                <a:cs typeface="Century Gothic"/>
                <a:sym typeface="Century Gothic"/>
              </a:rPr>
              <a:t>+725 pts.</a:t>
            </a:r>
            <a:endParaRPr/>
          </a:p>
        </p:txBody>
      </p:sp>
      <p:sp>
        <p:nvSpPr>
          <p:cNvPr id="370" name="Google Shape;370;p16"/>
          <p:cNvSpPr/>
          <p:nvPr/>
        </p:nvSpPr>
        <p:spPr>
          <a:xfrm rot="-5400000">
            <a:off x="12916652" y="5097029"/>
            <a:ext cx="298476" cy="314888"/>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71" name="Google Shape;371;p16"/>
          <p:cNvGrpSpPr/>
          <p:nvPr/>
        </p:nvGrpSpPr>
        <p:grpSpPr>
          <a:xfrm>
            <a:off x="13622787" y="4536789"/>
            <a:ext cx="3009615" cy="923330"/>
            <a:chOff x="13492959" y="4060199"/>
            <a:chExt cx="3009615" cy="923330"/>
          </a:xfrm>
        </p:grpSpPr>
        <p:sp>
          <p:nvSpPr>
            <p:cNvPr id="372" name="Google Shape;372;p16"/>
            <p:cNvSpPr txBox="1"/>
            <p:nvPr/>
          </p:nvSpPr>
          <p:spPr>
            <a:xfrm>
              <a:off x="13492959" y="4181356"/>
              <a:ext cx="899554"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Century Gothic"/>
                  <a:ea typeface="Century Gothic"/>
                  <a:cs typeface="Century Gothic"/>
                  <a:sym typeface="Century Gothic"/>
                </a:rPr>
                <a:t>Tyler Smith</a:t>
              </a:r>
              <a:endParaRPr/>
            </a:p>
          </p:txBody>
        </p:sp>
        <p:sp>
          <p:nvSpPr>
            <p:cNvPr id="373" name="Google Shape;373;p16"/>
            <p:cNvSpPr txBox="1"/>
            <p:nvPr/>
          </p:nvSpPr>
          <p:spPr>
            <a:xfrm>
              <a:off x="14549516" y="4060199"/>
              <a:ext cx="195305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Analysis of different brands and products.</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grpSp>
        <p:nvGrpSpPr>
          <p:cNvPr id="378" name="Google Shape;378;p17"/>
          <p:cNvGrpSpPr/>
          <p:nvPr/>
        </p:nvGrpSpPr>
        <p:grpSpPr>
          <a:xfrm>
            <a:off x="6287584" y="824518"/>
            <a:ext cx="11802708" cy="2182173"/>
            <a:chOff x="6287584" y="1071658"/>
            <a:chExt cx="11802708" cy="2182173"/>
          </a:xfrm>
        </p:grpSpPr>
        <p:sp>
          <p:nvSpPr>
            <p:cNvPr id="379" name="Google Shape;379;p17"/>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380" name="Google Shape;380;p17"/>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381" name="Google Shape;381;p17"/>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82" name="Google Shape;382;p17"/>
          <p:cNvSpPr/>
          <p:nvPr/>
        </p:nvSpPr>
        <p:spPr>
          <a:xfrm>
            <a:off x="8046720" y="6199512"/>
            <a:ext cx="14356080" cy="5539391"/>
          </a:xfrm>
          <a:prstGeom prst="rect">
            <a:avLst/>
          </a:prstGeom>
          <a:solidFill>
            <a:srgbClr val="F0F1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 name="Google Shape;383;p17"/>
          <p:cNvSpPr/>
          <p:nvPr/>
        </p:nvSpPr>
        <p:spPr>
          <a:xfrm>
            <a:off x="6575953" y="5015479"/>
            <a:ext cx="2941534" cy="363561"/>
          </a:xfrm>
          <a:prstGeom prst="rect">
            <a:avLst/>
          </a:prstGeom>
          <a:noFill/>
          <a:ln>
            <a:noFill/>
          </a:ln>
        </p:spPr>
        <p:txBody>
          <a:bodyPr anchorCtr="0" anchor="ctr" bIns="50800" lIns="50800" spcFirstLastPara="1" rIns="50800" wrap="square" tIns="50800">
            <a:spAutoFit/>
          </a:bodyPr>
          <a:lstStyle/>
          <a:p>
            <a:pPr indent="0" lvl="0" marL="0" marR="0" rtl="0" algn="ctr">
              <a:lnSpc>
                <a:spcPct val="70000"/>
              </a:lnSpc>
              <a:spcBef>
                <a:spcPts val="0"/>
              </a:spcBef>
              <a:spcAft>
                <a:spcPts val="0"/>
              </a:spcAft>
              <a:buNone/>
            </a:pPr>
            <a:r>
              <a:rPr b="1" lang="en-US" sz="2400">
                <a:solidFill>
                  <a:schemeClr val="dk2"/>
                </a:solidFill>
                <a:latin typeface="Century Gothic"/>
                <a:ea typeface="Century Gothic"/>
                <a:cs typeface="Century Gothic"/>
                <a:sym typeface="Century Gothic"/>
              </a:rPr>
              <a:t>Classroom 01</a:t>
            </a:r>
            <a:endParaRPr b="1" sz="2400">
              <a:solidFill>
                <a:schemeClr val="dk2"/>
              </a:solidFill>
              <a:latin typeface="Century Gothic"/>
              <a:ea typeface="Century Gothic"/>
              <a:cs typeface="Century Gothic"/>
              <a:sym typeface="Century Gothic"/>
            </a:endParaRPr>
          </a:p>
        </p:txBody>
      </p:sp>
      <p:cxnSp>
        <p:nvCxnSpPr>
          <p:cNvPr id="384" name="Google Shape;384;p17"/>
          <p:cNvCxnSpPr/>
          <p:nvPr/>
        </p:nvCxnSpPr>
        <p:spPr>
          <a:xfrm rot="10800000">
            <a:off x="8067502" y="5442295"/>
            <a:ext cx="0" cy="6296608"/>
          </a:xfrm>
          <a:prstGeom prst="straightConnector1">
            <a:avLst/>
          </a:prstGeom>
          <a:noFill/>
          <a:ln cap="flat" cmpd="sng" w="38100">
            <a:solidFill>
              <a:schemeClr val="dk2"/>
            </a:solidFill>
            <a:prstDash val="dash"/>
            <a:miter lim="400000"/>
            <a:headEnd len="sm" w="sm" type="none"/>
            <a:tailEnd len="med" w="med" type="triangle"/>
          </a:ln>
        </p:spPr>
      </p:cxnSp>
      <p:graphicFrame>
        <p:nvGraphicFramePr>
          <p:cNvPr id="385" name="Google Shape;385;p17"/>
          <p:cNvGraphicFramePr/>
          <p:nvPr/>
        </p:nvGraphicFramePr>
        <p:xfrm>
          <a:off x="1481453" y="6079165"/>
          <a:ext cx="21424268" cy="6083780"/>
        </p:xfrm>
        <a:graphic>
          <a:graphicData uri="http://schemas.openxmlformats.org/drawingml/2006/chart">
            <c:chart r:id="rId3"/>
          </a:graphicData>
        </a:graphic>
      </p:graphicFrame>
      <p:sp>
        <p:nvSpPr>
          <p:cNvPr id="386" name="Google Shape;386;p17"/>
          <p:cNvSpPr/>
          <p:nvPr/>
        </p:nvSpPr>
        <p:spPr>
          <a:xfrm>
            <a:off x="10723418" y="4731160"/>
            <a:ext cx="10086103" cy="2794178"/>
          </a:xfrm>
          <a:prstGeom prst="roundRect">
            <a:avLst>
              <a:gd fmla="val 16667" name="adj"/>
            </a:avLst>
          </a:prstGeom>
          <a:solidFill>
            <a:schemeClr val="lt1"/>
          </a:solidFill>
          <a:ln cap="flat" cmpd="sng" w="12700">
            <a:solidFill>
              <a:srgbClr val="F0F1FA"/>
            </a:solidFill>
            <a:prstDash val="solid"/>
            <a:miter lim="800000"/>
            <a:headEnd len="sm" w="sm" type="none"/>
            <a:tailEnd len="sm" w="sm" type="none"/>
          </a:ln>
          <a:effectLst>
            <a:outerShdw blurRad="254000" sx="102000" rotWithShape="0" algn="tl" dir="2700000" dist="38100" sy="102000">
              <a:srgbClr val="000000">
                <a:alpha val="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87" name="Google Shape;387;p17"/>
          <p:cNvGrpSpPr/>
          <p:nvPr/>
        </p:nvGrpSpPr>
        <p:grpSpPr>
          <a:xfrm>
            <a:off x="11404895" y="5259659"/>
            <a:ext cx="8754108" cy="1803637"/>
            <a:chOff x="11753838" y="5785592"/>
            <a:chExt cx="8754108" cy="1803637"/>
          </a:xfrm>
        </p:grpSpPr>
        <p:sp>
          <p:nvSpPr>
            <p:cNvPr id="388" name="Google Shape;388;p17"/>
            <p:cNvSpPr txBox="1"/>
            <p:nvPr/>
          </p:nvSpPr>
          <p:spPr>
            <a:xfrm>
              <a:off x="11753838" y="6635122"/>
              <a:ext cx="8754108"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a:t>
              </a:r>
              <a:endParaRPr/>
            </a:p>
          </p:txBody>
        </p:sp>
        <p:sp>
          <p:nvSpPr>
            <p:cNvPr id="389" name="Google Shape;389;p17"/>
            <p:cNvSpPr txBox="1"/>
            <p:nvPr/>
          </p:nvSpPr>
          <p:spPr>
            <a:xfrm>
              <a:off x="11753839" y="5785592"/>
              <a:ext cx="575786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Progress Class 2020</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grpSp>
        <p:nvGrpSpPr>
          <p:cNvPr id="394" name="Google Shape;394;p18"/>
          <p:cNvGrpSpPr/>
          <p:nvPr/>
        </p:nvGrpSpPr>
        <p:grpSpPr>
          <a:xfrm>
            <a:off x="6287584" y="824518"/>
            <a:ext cx="11802708" cy="2182173"/>
            <a:chOff x="6287584" y="1071658"/>
            <a:chExt cx="11802708" cy="2182173"/>
          </a:xfrm>
        </p:grpSpPr>
        <p:sp>
          <p:nvSpPr>
            <p:cNvPr id="395" name="Google Shape;395;p18"/>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396" name="Google Shape;396;p18"/>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397" name="Google Shape;397;p18"/>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398" name="Google Shape;398;p18"/>
          <p:cNvGrpSpPr/>
          <p:nvPr/>
        </p:nvGrpSpPr>
        <p:grpSpPr>
          <a:xfrm>
            <a:off x="1269088" y="3272353"/>
            <a:ext cx="21839475" cy="9948862"/>
            <a:chOff x="1073508" y="3328229"/>
            <a:chExt cx="21839475" cy="9948862"/>
          </a:xfrm>
        </p:grpSpPr>
        <p:graphicFrame>
          <p:nvGraphicFramePr>
            <p:cNvPr id="399" name="Google Shape;399;p18"/>
            <p:cNvGraphicFramePr/>
            <p:nvPr/>
          </p:nvGraphicFramePr>
          <p:xfrm>
            <a:off x="1073508" y="3328229"/>
            <a:ext cx="17445321" cy="9948862"/>
          </p:xfrm>
          <a:graphic>
            <a:graphicData uri="http://schemas.openxmlformats.org/drawingml/2006/chart">
              <c:chart r:id="rId3"/>
            </a:graphicData>
          </a:graphic>
        </p:graphicFrame>
        <p:sp>
          <p:nvSpPr>
            <p:cNvPr id="400" name="Google Shape;400;p18"/>
            <p:cNvSpPr/>
            <p:nvPr/>
          </p:nvSpPr>
          <p:spPr>
            <a:xfrm>
              <a:off x="2760234" y="5016459"/>
              <a:ext cx="6573906" cy="6573906"/>
            </a:xfrm>
            <a:prstGeom prst="ellipse">
              <a:avLst/>
            </a:prstGeom>
            <a:solidFill>
              <a:srgbClr val="F0F1FA"/>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818A93"/>
                </a:buClr>
                <a:buSzPts val="3200"/>
                <a:buFont typeface="Open Sans"/>
                <a:buNone/>
              </a:pPr>
              <a:r>
                <a:t/>
              </a:r>
              <a:endParaRPr sz="3200">
                <a:solidFill>
                  <a:srgbClr val="FFFFFF"/>
                </a:solidFill>
                <a:latin typeface="Helvetica Neue Light"/>
                <a:ea typeface="Helvetica Neue Light"/>
                <a:cs typeface="Helvetica Neue Light"/>
                <a:sym typeface="Helvetica Neue Light"/>
              </a:endParaRPr>
            </a:p>
          </p:txBody>
        </p:sp>
        <p:grpSp>
          <p:nvGrpSpPr>
            <p:cNvPr id="401" name="Google Shape;401;p18"/>
            <p:cNvGrpSpPr/>
            <p:nvPr/>
          </p:nvGrpSpPr>
          <p:grpSpPr>
            <a:xfrm>
              <a:off x="12188826" y="5078033"/>
              <a:ext cx="10724157" cy="6449254"/>
              <a:chOff x="11805661" y="4988311"/>
              <a:chExt cx="10724157" cy="6449254"/>
            </a:xfrm>
          </p:grpSpPr>
          <p:sp>
            <p:nvSpPr>
              <p:cNvPr id="402" name="Google Shape;402;p18"/>
              <p:cNvSpPr/>
              <p:nvPr/>
            </p:nvSpPr>
            <p:spPr>
              <a:xfrm>
                <a:off x="11805661" y="5095356"/>
                <a:ext cx="1386348" cy="138634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3" name="Google Shape;403;p18"/>
              <p:cNvSpPr/>
              <p:nvPr/>
            </p:nvSpPr>
            <p:spPr>
              <a:xfrm>
                <a:off x="11805661" y="7555975"/>
                <a:ext cx="1386348" cy="138634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4" name="Google Shape;404;p18"/>
              <p:cNvSpPr/>
              <p:nvPr/>
            </p:nvSpPr>
            <p:spPr>
              <a:xfrm>
                <a:off x="11805661" y="9944172"/>
                <a:ext cx="1386348" cy="1386348"/>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05" name="Google Shape;405;p18"/>
              <p:cNvGrpSpPr/>
              <p:nvPr/>
            </p:nvGrpSpPr>
            <p:grpSpPr>
              <a:xfrm>
                <a:off x="13701929" y="4988311"/>
                <a:ext cx="8827889" cy="1600438"/>
                <a:chOff x="1365659" y="10733129"/>
                <a:chExt cx="13494467" cy="1600438"/>
              </a:xfrm>
            </p:grpSpPr>
            <p:sp>
              <p:nvSpPr>
                <p:cNvPr id="406" name="Google Shape;406;p18"/>
                <p:cNvSpPr txBox="1"/>
                <p:nvPr/>
              </p:nvSpPr>
              <p:spPr>
                <a:xfrm>
                  <a:off x="1365659" y="11379460"/>
                  <a:ext cx="13494467"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a:t>
                  </a:r>
                  <a:endParaRPr/>
                </a:p>
              </p:txBody>
            </p:sp>
            <p:sp>
              <p:nvSpPr>
                <p:cNvPr id="407" name="Google Shape;407;p18"/>
                <p:cNvSpPr txBox="1"/>
                <p:nvPr/>
              </p:nvSpPr>
              <p:spPr>
                <a:xfrm>
                  <a:off x="1365659" y="10733129"/>
                  <a:ext cx="1082792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Tyler Smith</a:t>
                  </a:r>
                  <a:endParaRPr/>
                </a:p>
              </p:txBody>
            </p:sp>
          </p:grpSp>
          <p:grpSp>
            <p:nvGrpSpPr>
              <p:cNvPr id="408" name="Google Shape;408;p18"/>
              <p:cNvGrpSpPr/>
              <p:nvPr/>
            </p:nvGrpSpPr>
            <p:grpSpPr>
              <a:xfrm>
                <a:off x="13701929" y="7448930"/>
                <a:ext cx="8827889" cy="1600438"/>
                <a:chOff x="1365659" y="10733129"/>
                <a:chExt cx="13494467" cy="1600438"/>
              </a:xfrm>
            </p:grpSpPr>
            <p:sp>
              <p:nvSpPr>
                <p:cNvPr id="409" name="Google Shape;409;p18"/>
                <p:cNvSpPr txBox="1"/>
                <p:nvPr/>
              </p:nvSpPr>
              <p:spPr>
                <a:xfrm>
                  <a:off x="1365659" y="11379460"/>
                  <a:ext cx="13494467"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a:t>
                  </a:r>
                  <a:endParaRPr/>
                </a:p>
              </p:txBody>
            </p:sp>
            <p:sp>
              <p:nvSpPr>
                <p:cNvPr id="410" name="Google Shape;410;p18"/>
                <p:cNvSpPr txBox="1"/>
                <p:nvPr/>
              </p:nvSpPr>
              <p:spPr>
                <a:xfrm>
                  <a:off x="1365659" y="10733129"/>
                  <a:ext cx="1082792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Jeff Reynolds</a:t>
                  </a:r>
                  <a:endParaRPr/>
                </a:p>
              </p:txBody>
            </p:sp>
          </p:grpSp>
          <p:grpSp>
            <p:nvGrpSpPr>
              <p:cNvPr id="411" name="Google Shape;411;p18"/>
              <p:cNvGrpSpPr/>
              <p:nvPr/>
            </p:nvGrpSpPr>
            <p:grpSpPr>
              <a:xfrm>
                <a:off x="13701929" y="9837127"/>
                <a:ext cx="8827889" cy="1600438"/>
                <a:chOff x="1365659" y="10733129"/>
                <a:chExt cx="13494467" cy="1600438"/>
              </a:xfrm>
            </p:grpSpPr>
            <p:sp>
              <p:nvSpPr>
                <p:cNvPr id="412" name="Google Shape;412;p18"/>
                <p:cNvSpPr txBox="1"/>
                <p:nvPr/>
              </p:nvSpPr>
              <p:spPr>
                <a:xfrm>
                  <a:off x="1365659" y="11379460"/>
                  <a:ext cx="13494467"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a:t>
                  </a:r>
                  <a:endParaRPr/>
                </a:p>
              </p:txBody>
            </p:sp>
            <p:sp>
              <p:nvSpPr>
                <p:cNvPr id="413" name="Google Shape;413;p18"/>
                <p:cNvSpPr txBox="1"/>
                <p:nvPr/>
              </p:nvSpPr>
              <p:spPr>
                <a:xfrm>
                  <a:off x="1365659" y="10733129"/>
                  <a:ext cx="1082792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Paul McGill</a:t>
                  </a:r>
                  <a:endParaRPr/>
                </a:p>
              </p:txBody>
            </p:sp>
          </p:grpSp>
        </p:grpSp>
        <p:sp>
          <p:nvSpPr>
            <p:cNvPr id="414" name="Google Shape;414;p18"/>
            <p:cNvSpPr txBox="1"/>
            <p:nvPr/>
          </p:nvSpPr>
          <p:spPr>
            <a:xfrm>
              <a:off x="3801712" y="6779166"/>
              <a:ext cx="4490950" cy="30469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chemeClr val="dk2"/>
                  </a:solidFill>
                  <a:latin typeface="Century Gothic"/>
                  <a:ea typeface="Century Gothic"/>
                  <a:cs typeface="Century Gothic"/>
                  <a:sym typeface="Century Gothic"/>
                </a:rPr>
                <a:t>Students deserve every opportunity to succeed.</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grpSp>
        <p:nvGrpSpPr>
          <p:cNvPr id="419" name="Google Shape;419;p19"/>
          <p:cNvGrpSpPr/>
          <p:nvPr/>
        </p:nvGrpSpPr>
        <p:grpSpPr>
          <a:xfrm>
            <a:off x="6287584" y="824518"/>
            <a:ext cx="11802708" cy="2182173"/>
            <a:chOff x="6287584" y="1071658"/>
            <a:chExt cx="11802708" cy="2182173"/>
          </a:xfrm>
        </p:grpSpPr>
        <p:sp>
          <p:nvSpPr>
            <p:cNvPr id="420" name="Google Shape;420;p19"/>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421" name="Google Shape;421;p19"/>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422" name="Google Shape;422;p19"/>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423" name="Google Shape;423;p19"/>
          <p:cNvGrpSpPr/>
          <p:nvPr/>
        </p:nvGrpSpPr>
        <p:grpSpPr>
          <a:xfrm>
            <a:off x="1648835" y="5032335"/>
            <a:ext cx="21089504" cy="7045799"/>
            <a:chOff x="1620260" y="5071114"/>
            <a:chExt cx="21089504" cy="7045799"/>
          </a:xfrm>
        </p:grpSpPr>
        <p:graphicFrame>
          <p:nvGraphicFramePr>
            <p:cNvPr id="424" name="Google Shape;424;p19"/>
            <p:cNvGraphicFramePr/>
            <p:nvPr/>
          </p:nvGraphicFramePr>
          <p:xfrm>
            <a:off x="1620260" y="5169084"/>
            <a:ext cx="9328842" cy="6947829"/>
          </p:xfrm>
          <a:graphic>
            <a:graphicData uri="http://schemas.openxmlformats.org/drawingml/2006/chart">
              <c:chart r:id="rId3"/>
            </a:graphicData>
          </a:graphic>
        </p:graphicFrame>
        <p:grpSp>
          <p:nvGrpSpPr>
            <p:cNvPr id="425" name="Google Shape;425;p19"/>
            <p:cNvGrpSpPr/>
            <p:nvPr/>
          </p:nvGrpSpPr>
          <p:grpSpPr>
            <a:xfrm>
              <a:off x="11917611" y="5071114"/>
              <a:ext cx="10792153" cy="7013143"/>
              <a:chOff x="11917611" y="5071114"/>
              <a:chExt cx="10792153" cy="7013143"/>
            </a:xfrm>
          </p:grpSpPr>
          <p:sp>
            <p:nvSpPr>
              <p:cNvPr id="426" name="Google Shape;426;p19"/>
              <p:cNvSpPr/>
              <p:nvPr/>
            </p:nvSpPr>
            <p:spPr>
              <a:xfrm>
                <a:off x="11917611" y="8733861"/>
                <a:ext cx="10663420" cy="90621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 name="Google Shape;427;p19"/>
              <p:cNvSpPr/>
              <p:nvPr/>
            </p:nvSpPr>
            <p:spPr>
              <a:xfrm>
                <a:off x="11917611" y="10500668"/>
                <a:ext cx="10663420" cy="906213"/>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 name="Google Shape;428;p19"/>
              <p:cNvSpPr txBox="1"/>
              <p:nvPr/>
            </p:nvSpPr>
            <p:spPr>
              <a:xfrm>
                <a:off x="14692564" y="8050005"/>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45%</a:t>
                </a:r>
                <a:endParaRPr/>
              </a:p>
            </p:txBody>
          </p:sp>
          <p:sp>
            <p:nvSpPr>
              <p:cNvPr id="429" name="Google Shape;429;p19"/>
              <p:cNvSpPr txBox="1"/>
              <p:nvPr/>
            </p:nvSpPr>
            <p:spPr>
              <a:xfrm>
                <a:off x="12113572" y="8050005"/>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2"/>
                    </a:solidFill>
                    <a:latin typeface="Century Gothic"/>
                    <a:ea typeface="Century Gothic"/>
                    <a:cs typeface="Century Gothic"/>
                    <a:sym typeface="Century Gothic"/>
                  </a:rPr>
                  <a:t>Creativity</a:t>
                </a:r>
                <a:endParaRPr/>
              </a:p>
            </p:txBody>
          </p:sp>
          <p:sp>
            <p:nvSpPr>
              <p:cNvPr id="430" name="Google Shape;430;p19"/>
              <p:cNvSpPr txBox="1"/>
              <p:nvPr/>
            </p:nvSpPr>
            <p:spPr>
              <a:xfrm>
                <a:off x="14692564" y="8909860"/>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70%</a:t>
                </a:r>
                <a:endParaRPr/>
              </a:p>
            </p:txBody>
          </p:sp>
          <p:sp>
            <p:nvSpPr>
              <p:cNvPr id="431" name="Google Shape;431;p19"/>
              <p:cNvSpPr txBox="1"/>
              <p:nvPr/>
            </p:nvSpPr>
            <p:spPr>
              <a:xfrm>
                <a:off x="12113572" y="8909860"/>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1"/>
                    </a:solidFill>
                    <a:latin typeface="Century Gothic"/>
                    <a:ea typeface="Century Gothic"/>
                    <a:cs typeface="Century Gothic"/>
                    <a:sym typeface="Century Gothic"/>
                  </a:rPr>
                  <a:t>Learn</a:t>
                </a:r>
                <a:endParaRPr/>
              </a:p>
            </p:txBody>
          </p:sp>
          <p:sp>
            <p:nvSpPr>
              <p:cNvPr id="432" name="Google Shape;432;p19"/>
              <p:cNvSpPr txBox="1"/>
              <p:nvPr/>
            </p:nvSpPr>
            <p:spPr>
              <a:xfrm>
                <a:off x="14692564" y="9807651"/>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50%</a:t>
                </a:r>
                <a:endParaRPr/>
              </a:p>
            </p:txBody>
          </p:sp>
          <p:sp>
            <p:nvSpPr>
              <p:cNvPr id="433" name="Google Shape;433;p19"/>
              <p:cNvSpPr txBox="1"/>
              <p:nvPr/>
            </p:nvSpPr>
            <p:spPr>
              <a:xfrm>
                <a:off x="12113572" y="9807651"/>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2"/>
                    </a:solidFill>
                    <a:latin typeface="Century Gothic"/>
                    <a:ea typeface="Century Gothic"/>
                    <a:cs typeface="Century Gothic"/>
                    <a:sym typeface="Century Gothic"/>
                  </a:rPr>
                  <a:t>Study</a:t>
                </a:r>
                <a:endParaRPr/>
              </a:p>
            </p:txBody>
          </p:sp>
          <p:sp>
            <p:nvSpPr>
              <p:cNvPr id="434" name="Google Shape;434;p19"/>
              <p:cNvSpPr txBox="1"/>
              <p:nvPr/>
            </p:nvSpPr>
            <p:spPr>
              <a:xfrm>
                <a:off x="14692564" y="10682496"/>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40%</a:t>
                </a:r>
                <a:endParaRPr/>
              </a:p>
            </p:txBody>
          </p:sp>
          <p:sp>
            <p:nvSpPr>
              <p:cNvPr id="435" name="Google Shape;435;p19"/>
              <p:cNvSpPr txBox="1"/>
              <p:nvPr/>
            </p:nvSpPr>
            <p:spPr>
              <a:xfrm>
                <a:off x="12113572" y="10682496"/>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accent2"/>
                    </a:solidFill>
                    <a:latin typeface="Century Gothic"/>
                    <a:ea typeface="Century Gothic"/>
                    <a:cs typeface="Century Gothic"/>
                    <a:sym typeface="Century Gothic"/>
                  </a:rPr>
                  <a:t>Thinking</a:t>
                </a:r>
                <a:endParaRPr/>
              </a:p>
            </p:txBody>
          </p:sp>
          <p:sp>
            <p:nvSpPr>
              <p:cNvPr id="436" name="Google Shape;436;p19"/>
              <p:cNvSpPr txBox="1"/>
              <p:nvPr/>
            </p:nvSpPr>
            <p:spPr>
              <a:xfrm>
                <a:off x="14692564" y="11561037"/>
                <a:ext cx="15012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24%</a:t>
                </a:r>
                <a:endParaRPr/>
              </a:p>
            </p:txBody>
          </p:sp>
          <p:sp>
            <p:nvSpPr>
              <p:cNvPr id="437" name="Google Shape;437;p19"/>
              <p:cNvSpPr txBox="1"/>
              <p:nvPr/>
            </p:nvSpPr>
            <p:spPr>
              <a:xfrm>
                <a:off x="12113572" y="11561037"/>
                <a:ext cx="267936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2"/>
                    </a:solidFill>
                    <a:latin typeface="Century Gothic"/>
                    <a:ea typeface="Century Gothic"/>
                    <a:cs typeface="Century Gothic"/>
                    <a:sym typeface="Century Gothic"/>
                  </a:rPr>
                  <a:t>Analysis</a:t>
                </a:r>
                <a:endParaRPr/>
              </a:p>
            </p:txBody>
          </p:sp>
          <p:sp>
            <p:nvSpPr>
              <p:cNvPr id="438" name="Google Shape;438;p19"/>
              <p:cNvSpPr txBox="1"/>
              <p:nvPr/>
            </p:nvSpPr>
            <p:spPr>
              <a:xfrm>
                <a:off x="16299656" y="8050005"/>
                <a:ext cx="614588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Great way to visualize information.</a:t>
                </a:r>
                <a:endParaRPr sz="2800">
                  <a:solidFill>
                    <a:schemeClr val="dk1"/>
                  </a:solidFill>
                  <a:latin typeface="Century Gothic"/>
                  <a:ea typeface="Century Gothic"/>
                  <a:cs typeface="Century Gothic"/>
                  <a:sym typeface="Century Gothic"/>
                </a:endParaRPr>
              </a:p>
            </p:txBody>
          </p:sp>
          <p:sp>
            <p:nvSpPr>
              <p:cNvPr id="439" name="Google Shape;439;p19"/>
              <p:cNvSpPr txBox="1"/>
              <p:nvPr/>
            </p:nvSpPr>
            <p:spPr>
              <a:xfrm>
                <a:off x="16299656" y="8904320"/>
                <a:ext cx="614588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Great way to visualize information.</a:t>
                </a:r>
                <a:endParaRPr sz="2800">
                  <a:solidFill>
                    <a:schemeClr val="dk1"/>
                  </a:solidFill>
                  <a:latin typeface="Century Gothic"/>
                  <a:ea typeface="Century Gothic"/>
                  <a:cs typeface="Century Gothic"/>
                  <a:sym typeface="Century Gothic"/>
                </a:endParaRPr>
              </a:p>
            </p:txBody>
          </p:sp>
          <p:sp>
            <p:nvSpPr>
              <p:cNvPr id="440" name="Google Shape;440;p19"/>
              <p:cNvSpPr txBox="1"/>
              <p:nvPr/>
            </p:nvSpPr>
            <p:spPr>
              <a:xfrm>
                <a:off x="16299656" y="9807651"/>
                <a:ext cx="614588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Great way to visualize information.</a:t>
                </a:r>
                <a:endParaRPr sz="2800">
                  <a:solidFill>
                    <a:schemeClr val="dk1"/>
                  </a:solidFill>
                  <a:latin typeface="Century Gothic"/>
                  <a:ea typeface="Century Gothic"/>
                  <a:cs typeface="Century Gothic"/>
                  <a:sym typeface="Century Gothic"/>
                </a:endParaRPr>
              </a:p>
            </p:txBody>
          </p:sp>
          <p:sp>
            <p:nvSpPr>
              <p:cNvPr id="441" name="Google Shape;441;p19"/>
              <p:cNvSpPr txBox="1"/>
              <p:nvPr/>
            </p:nvSpPr>
            <p:spPr>
              <a:xfrm>
                <a:off x="16299656" y="10682496"/>
                <a:ext cx="614588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Great way to visualize information.</a:t>
                </a:r>
                <a:endParaRPr sz="2800">
                  <a:solidFill>
                    <a:schemeClr val="dk1"/>
                  </a:solidFill>
                  <a:latin typeface="Century Gothic"/>
                  <a:ea typeface="Century Gothic"/>
                  <a:cs typeface="Century Gothic"/>
                  <a:sym typeface="Century Gothic"/>
                </a:endParaRPr>
              </a:p>
            </p:txBody>
          </p:sp>
          <p:sp>
            <p:nvSpPr>
              <p:cNvPr id="442" name="Google Shape;442;p19"/>
              <p:cNvSpPr txBox="1"/>
              <p:nvPr/>
            </p:nvSpPr>
            <p:spPr>
              <a:xfrm>
                <a:off x="16299656" y="11561037"/>
                <a:ext cx="614588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Great way to visualize information.</a:t>
                </a:r>
                <a:endParaRPr sz="2800">
                  <a:solidFill>
                    <a:schemeClr val="dk1"/>
                  </a:solidFill>
                  <a:latin typeface="Century Gothic"/>
                  <a:ea typeface="Century Gothic"/>
                  <a:cs typeface="Century Gothic"/>
                  <a:sym typeface="Century Gothic"/>
                </a:endParaRPr>
              </a:p>
            </p:txBody>
          </p:sp>
          <p:grpSp>
            <p:nvGrpSpPr>
              <p:cNvPr id="443" name="Google Shape;443;p19"/>
              <p:cNvGrpSpPr/>
              <p:nvPr/>
            </p:nvGrpSpPr>
            <p:grpSpPr>
              <a:xfrm>
                <a:off x="12056421" y="5071114"/>
                <a:ext cx="10653343" cy="2020326"/>
                <a:chOff x="12810189" y="10497539"/>
                <a:chExt cx="10653343" cy="2020326"/>
              </a:xfrm>
            </p:grpSpPr>
            <p:sp>
              <p:nvSpPr>
                <p:cNvPr id="444" name="Google Shape;444;p19"/>
                <p:cNvSpPr txBox="1"/>
                <p:nvPr/>
              </p:nvSpPr>
              <p:spPr>
                <a:xfrm>
                  <a:off x="12810189" y="11563758"/>
                  <a:ext cx="10653343"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a:t>
                  </a:r>
                  <a:endParaRPr/>
                </a:p>
              </p:txBody>
            </p:sp>
            <p:sp>
              <p:nvSpPr>
                <p:cNvPr id="445" name="Google Shape;445;p19"/>
                <p:cNvSpPr txBox="1"/>
                <p:nvPr/>
              </p:nvSpPr>
              <p:spPr>
                <a:xfrm>
                  <a:off x="12810191" y="10497539"/>
                  <a:ext cx="575786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chemeClr val="dk2"/>
                      </a:solidFill>
                      <a:latin typeface="Century Gothic"/>
                      <a:ea typeface="Century Gothic"/>
                      <a:cs typeface="Century Gothic"/>
                      <a:sym typeface="Century Gothic"/>
                    </a:rPr>
                    <a:t>Progress Class</a:t>
                  </a:r>
                  <a:endParaRPr/>
                </a:p>
              </p:txBody>
            </p:sp>
          </p:gr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grpSp>
        <p:nvGrpSpPr>
          <p:cNvPr id="450" name="Google Shape;450;p20"/>
          <p:cNvGrpSpPr/>
          <p:nvPr/>
        </p:nvGrpSpPr>
        <p:grpSpPr>
          <a:xfrm>
            <a:off x="6287584" y="824518"/>
            <a:ext cx="11802708" cy="2182173"/>
            <a:chOff x="6287584" y="1071658"/>
            <a:chExt cx="11802708" cy="2182173"/>
          </a:xfrm>
        </p:grpSpPr>
        <p:sp>
          <p:nvSpPr>
            <p:cNvPr id="451" name="Google Shape;451;p20"/>
            <p:cNvSpPr txBox="1"/>
            <p:nvPr/>
          </p:nvSpPr>
          <p:spPr>
            <a:xfrm>
              <a:off x="6287584" y="1071658"/>
              <a:ext cx="118027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a:solidFill>
                    <a:schemeClr val="dk2"/>
                  </a:solidFill>
                  <a:latin typeface="Century Gothic"/>
                  <a:ea typeface="Century Gothic"/>
                  <a:cs typeface="Century Gothic"/>
                  <a:sym typeface="Century Gothic"/>
                </a:rPr>
                <a:t>Business Charts</a:t>
              </a:r>
              <a:endParaRPr/>
            </a:p>
          </p:txBody>
        </p:sp>
        <p:sp>
          <p:nvSpPr>
            <p:cNvPr id="452" name="Google Shape;452;p20"/>
            <p:cNvSpPr txBox="1"/>
            <p:nvPr/>
          </p:nvSpPr>
          <p:spPr>
            <a:xfrm>
              <a:off x="7816943" y="2426170"/>
              <a:ext cx="874376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entury Gothic"/>
                  <a:ea typeface="Century Gothic"/>
                  <a:cs typeface="Century Gothic"/>
                  <a:sym typeface="Century Gothic"/>
                </a:rPr>
                <a:t>Is a great way to visualize information about users</a:t>
              </a:r>
              <a:endParaRPr/>
            </a:p>
          </p:txBody>
        </p:sp>
        <p:sp>
          <p:nvSpPr>
            <p:cNvPr id="453" name="Google Shape;453;p20"/>
            <p:cNvSpPr/>
            <p:nvPr/>
          </p:nvSpPr>
          <p:spPr>
            <a:xfrm>
              <a:off x="11079729" y="3215052"/>
              <a:ext cx="2223656" cy="3877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54" name="Google Shape;454;p20"/>
          <p:cNvSpPr/>
          <p:nvPr/>
        </p:nvSpPr>
        <p:spPr>
          <a:xfrm>
            <a:off x="8872132" y="5008138"/>
            <a:ext cx="6466397" cy="6721454"/>
          </a:xfrm>
          <a:prstGeom prst="rect">
            <a:avLst/>
          </a:prstGeom>
          <a:solidFill>
            <a:srgbClr val="F3F4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455" name="Google Shape;455;p20"/>
          <p:cNvGraphicFramePr/>
          <p:nvPr/>
        </p:nvGraphicFramePr>
        <p:xfrm>
          <a:off x="1481453" y="5008138"/>
          <a:ext cx="14463397" cy="7273884"/>
        </p:xfrm>
        <a:graphic>
          <a:graphicData uri="http://schemas.openxmlformats.org/drawingml/2006/chart">
            <c:chart r:id="rId3"/>
          </a:graphicData>
        </a:graphic>
      </p:graphicFrame>
      <p:cxnSp>
        <p:nvCxnSpPr>
          <p:cNvPr id="456" name="Google Shape;456;p20"/>
          <p:cNvCxnSpPr/>
          <p:nvPr/>
        </p:nvCxnSpPr>
        <p:spPr>
          <a:xfrm>
            <a:off x="8861670" y="5008138"/>
            <a:ext cx="0" cy="6721453"/>
          </a:xfrm>
          <a:prstGeom prst="straightConnector1">
            <a:avLst/>
          </a:prstGeom>
          <a:noFill/>
          <a:ln cap="flat" cmpd="sng" w="38100">
            <a:solidFill>
              <a:schemeClr val="dk2"/>
            </a:solidFill>
            <a:prstDash val="dash"/>
            <a:miter lim="400000"/>
            <a:headEnd len="sm" w="sm" type="none"/>
            <a:tailEnd len="sm" w="sm" type="none"/>
          </a:ln>
        </p:spPr>
      </p:cxnSp>
      <p:grpSp>
        <p:nvGrpSpPr>
          <p:cNvPr id="457" name="Google Shape;457;p20"/>
          <p:cNvGrpSpPr/>
          <p:nvPr/>
        </p:nvGrpSpPr>
        <p:grpSpPr>
          <a:xfrm>
            <a:off x="3390656" y="4548249"/>
            <a:ext cx="3551345" cy="1996488"/>
            <a:chOff x="11753838" y="5785592"/>
            <a:chExt cx="5260519" cy="1996488"/>
          </a:xfrm>
        </p:grpSpPr>
        <p:sp>
          <p:nvSpPr>
            <p:cNvPr id="458" name="Google Shape;458;p20"/>
            <p:cNvSpPr txBox="1"/>
            <p:nvPr/>
          </p:nvSpPr>
          <p:spPr>
            <a:xfrm>
              <a:off x="11753838" y="6397085"/>
              <a:ext cx="5260519"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a:t>
              </a:r>
              <a:endParaRPr/>
            </a:p>
          </p:txBody>
        </p:sp>
        <p:sp>
          <p:nvSpPr>
            <p:cNvPr id="459" name="Google Shape;459;p20"/>
            <p:cNvSpPr txBox="1"/>
            <p:nvPr/>
          </p:nvSpPr>
          <p:spPr>
            <a:xfrm>
              <a:off x="11753839" y="5785592"/>
              <a:ext cx="526051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Semester 2020</a:t>
              </a:r>
              <a:endParaRPr/>
            </a:p>
          </p:txBody>
        </p:sp>
      </p:grpSp>
      <p:sp>
        <p:nvSpPr>
          <p:cNvPr id="460" name="Google Shape;460;p20"/>
          <p:cNvSpPr/>
          <p:nvPr/>
        </p:nvSpPr>
        <p:spPr>
          <a:xfrm>
            <a:off x="16219620" y="5066491"/>
            <a:ext cx="6686101" cy="1815882"/>
          </a:xfrm>
          <a:prstGeom prst="roundRect">
            <a:avLst>
              <a:gd fmla="val 16667" name="adj"/>
            </a:avLst>
          </a:prstGeom>
          <a:solidFill>
            <a:schemeClr val="lt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1" name="Google Shape;461;p20"/>
          <p:cNvSpPr/>
          <p:nvPr/>
        </p:nvSpPr>
        <p:spPr>
          <a:xfrm>
            <a:off x="16219620" y="7293351"/>
            <a:ext cx="6686101" cy="1815882"/>
          </a:xfrm>
          <a:prstGeom prst="roundRect">
            <a:avLst>
              <a:gd fmla="val 16667" name="adj"/>
            </a:avLst>
          </a:prstGeom>
          <a:solidFill>
            <a:schemeClr val="lt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2" name="Google Shape;462;p20"/>
          <p:cNvSpPr/>
          <p:nvPr/>
        </p:nvSpPr>
        <p:spPr>
          <a:xfrm>
            <a:off x="16730580" y="5831450"/>
            <a:ext cx="273823" cy="281526"/>
          </a:xfrm>
          <a:prstGeom prst="triangl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3" name="Google Shape;463;p20"/>
          <p:cNvSpPr/>
          <p:nvPr/>
        </p:nvSpPr>
        <p:spPr>
          <a:xfrm rot="10800000">
            <a:off x="16730579" y="8060529"/>
            <a:ext cx="273823" cy="281526"/>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4" name="Google Shape;464;p20"/>
          <p:cNvSpPr txBox="1"/>
          <p:nvPr/>
        </p:nvSpPr>
        <p:spPr>
          <a:xfrm>
            <a:off x="18938744" y="5693977"/>
            <a:ext cx="11905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+4.7%</a:t>
            </a:r>
            <a:endParaRPr/>
          </a:p>
        </p:txBody>
      </p:sp>
      <p:sp>
        <p:nvSpPr>
          <p:cNvPr id="465" name="Google Shape;465;p20"/>
          <p:cNvSpPr txBox="1"/>
          <p:nvPr/>
        </p:nvSpPr>
        <p:spPr>
          <a:xfrm>
            <a:off x="17408488" y="5632422"/>
            <a:ext cx="149208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Learn </a:t>
            </a:r>
            <a:endParaRPr/>
          </a:p>
        </p:txBody>
      </p:sp>
      <p:sp>
        <p:nvSpPr>
          <p:cNvPr id="466" name="Google Shape;466;p20"/>
          <p:cNvSpPr txBox="1"/>
          <p:nvPr/>
        </p:nvSpPr>
        <p:spPr>
          <a:xfrm>
            <a:off x="20261748" y="5693977"/>
            <a:ext cx="241233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+14 Students</a:t>
            </a:r>
            <a:endParaRPr/>
          </a:p>
        </p:txBody>
      </p:sp>
      <p:sp>
        <p:nvSpPr>
          <p:cNvPr id="467" name="Google Shape;467;p20"/>
          <p:cNvSpPr txBox="1"/>
          <p:nvPr/>
        </p:nvSpPr>
        <p:spPr>
          <a:xfrm>
            <a:off x="18938744" y="7916241"/>
            <a:ext cx="119055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-1.9%</a:t>
            </a:r>
            <a:endParaRPr/>
          </a:p>
        </p:txBody>
      </p:sp>
      <p:sp>
        <p:nvSpPr>
          <p:cNvPr id="468" name="Google Shape;468;p20"/>
          <p:cNvSpPr txBox="1"/>
          <p:nvPr/>
        </p:nvSpPr>
        <p:spPr>
          <a:xfrm>
            <a:off x="17408486" y="7854686"/>
            <a:ext cx="212637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2"/>
                </a:solidFill>
                <a:latin typeface="Century Gothic"/>
                <a:ea typeface="Century Gothic"/>
                <a:cs typeface="Century Gothic"/>
                <a:sym typeface="Century Gothic"/>
              </a:rPr>
              <a:t>Study</a:t>
            </a:r>
            <a:endParaRPr/>
          </a:p>
        </p:txBody>
      </p:sp>
      <p:sp>
        <p:nvSpPr>
          <p:cNvPr id="469" name="Google Shape;469;p20"/>
          <p:cNvSpPr txBox="1"/>
          <p:nvPr/>
        </p:nvSpPr>
        <p:spPr>
          <a:xfrm>
            <a:off x="20261748" y="7916241"/>
            <a:ext cx="241233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+14 Students</a:t>
            </a:r>
            <a:endParaRPr/>
          </a:p>
        </p:txBody>
      </p:sp>
      <p:grpSp>
        <p:nvGrpSpPr>
          <p:cNvPr id="470" name="Google Shape;470;p20"/>
          <p:cNvGrpSpPr/>
          <p:nvPr/>
        </p:nvGrpSpPr>
        <p:grpSpPr>
          <a:xfrm>
            <a:off x="8574166" y="8287967"/>
            <a:ext cx="536096" cy="536096"/>
            <a:chOff x="12148367" y="7040880"/>
            <a:chExt cx="530432" cy="530432"/>
          </a:xfrm>
        </p:grpSpPr>
        <p:sp>
          <p:nvSpPr>
            <p:cNvPr id="471" name="Google Shape;471;p20"/>
            <p:cNvSpPr/>
            <p:nvPr/>
          </p:nvSpPr>
          <p:spPr>
            <a:xfrm>
              <a:off x="12148367" y="7040880"/>
              <a:ext cx="530432" cy="530432"/>
            </a:xfrm>
            <a:prstGeom prst="ellipse">
              <a:avLst/>
            </a:prstGeom>
            <a:solidFill>
              <a:schemeClr val="lt1"/>
            </a:solidFill>
            <a:ln>
              <a:noFill/>
            </a:ln>
            <a:effectLst>
              <a:outerShdw blurRad="127000" sx="104999" rotWithShape="0" algn="tl" dir="2700000" dist="38100" sy="104999">
                <a:srgbClr val="000000">
                  <a:alpha val="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2" name="Google Shape;472;p20"/>
            <p:cNvSpPr/>
            <p:nvPr/>
          </p:nvSpPr>
          <p:spPr>
            <a:xfrm>
              <a:off x="12269236" y="7163982"/>
              <a:ext cx="284228" cy="284228"/>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73" name="Google Shape;473;p20"/>
          <p:cNvSpPr txBox="1"/>
          <p:nvPr/>
        </p:nvSpPr>
        <p:spPr>
          <a:xfrm>
            <a:off x="16219620" y="10486214"/>
            <a:ext cx="6851394"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There are people who have a significant number of followers in every business domain.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572">
      <a:dk1>
        <a:srgbClr val="999999"/>
      </a:dk1>
      <a:lt1>
        <a:srgbClr val="FFFFFF"/>
      </a:lt1>
      <a:dk2>
        <a:srgbClr val="252C34"/>
      </a:dk2>
      <a:lt2>
        <a:srgbClr val="FFFFFF"/>
      </a:lt2>
      <a:accent1>
        <a:srgbClr val="4C5FEC"/>
      </a:accent1>
      <a:accent2>
        <a:srgbClr val="F0AE62"/>
      </a:accent2>
      <a:accent3>
        <a:srgbClr val="7F70F4"/>
      </a:accent3>
      <a:accent4>
        <a:srgbClr val="F56D87"/>
      </a:accent4>
      <a:accent5>
        <a:srgbClr val="85DBEC"/>
      </a:accent5>
      <a:accent6>
        <a:srgbClr val="EAB6A2"/>
      </a:accent6>
      <a:hlink>
        <a:srgbClr val="85DBEC"/>
      </a:hlink>
      <a:folHlink>
        <a:srgbClr val="7F70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2020-05-04T13:20:50Z</dcterms:created>
  <dc:creator>Luis Lopez</dc:creator>
</cp:coreProperties>
</file>